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9494cf377a4b67" /><Relationship Type="http://schemas.openxmlformats.org/officeDocument/2006/relationships/extended-properties" Target="/docProps/app.xml" Id="R05838753cd5d4e70" /><Relationship Type="http://schemas.openxmlformats.org/officeDocument/2006/relationships/officeDocument" Target="/ppt/presentation.xml" Id="Rbc0adea631ee4b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14bfda8393e4f72"/>
  </p:sldMasterIdLst>
  <p:notesMasterIdLst>
    <p:notesMasterId xmlns:r="http://schemas.openxmlformats.org/officeDocument/2006/relationships" r:id="R22ea6642113e4d2a"/>
  </p:notesMasterIdLst>
  <p:sldIdLst>
    <p:sldId xmlns:r="http://schemas.openxmlformats.org/officeDocument/2006/relationships" id="256" r:id="R796196f210874976"/>
    <p:sldId xmlns:r="http://schemas.openxmlformats.org/officeDocument/2006/relationships" id="257" r:id="Rc3992183b74b4d57"/>
    <p:sldId xmlns:r="http://schemas.openxmlformats.org/officeDocument/2006/relationships" id="258" r:id="Re621e8cf76b548d2"/>
    <p:sldId xmlns:r="http://schemas.openxmlformats.org/officeDocument/2006/relationships" id="259" r:id="R8ab43807005f4323"/>
    <p:sldId xmlns:r="http://schemas.openxmlformats.org/officeDocument/2006/relationships" id="260" r:id="R94eef48e18da4a05"/>
    <p:sldId xmlns:r="http://schemas.openxmlformats.org/officeDocument/2006/relationships" id="261" r:id="R6032a24ad2724e7f"/>
    <p:sldId xmlns:r="http://schemas.openxmlformats.org/officeDocument/2006/relationships" id="262" r:id="R0bb0b1a5a0cd4363"/>
    <p:sldId xmlns:r="http://schemas.openxmlformats.org/officeDocument/2006/relationships" id="263" r:id="R2de2420104bd4a2c"/>
    <p:sldId xmlns:r="http://schemas.openxmlformats.org/officeDocument/2006/relationships" id="264" r:id="R395fc84c4ea143b1"/>
    <p:sldId xmlns:r="http://schemas.openxmlformats.org/officeDocument/2006/relationships" id="265" r:id="Recce778acd124541"/>
    <p:sldId xmlns:r="http://schemas.openxmlformats.org/officeDocument/2006/relationships" id="266" r:id="Rf31c950a03c44207"/>
    <p:sldId xmlns:r="http://schemas.openxmlformats.org/officeDocument/2006/relationships" id="267" r:id="R846f3bc5aa974a89"/>
    <p:sldId xmlns:r="http://schemas.openxmlformats.org/officeDocument/2006/relationships" id="268" r:id="R557b41b9e04040b1"/>
    <p:sldId xmlns:r="http://schemas.openxmlformats.org/officeDocument/2006/relationships" id="269" r:id="R8ae558ccc253448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e7dabf6363451a" /><Relationship Type="http://schemas.openxmlformats.org/officeDocument/2006/relationships/slideMaster" Target="/ppt/slideMasters/slideMaster1.xml" Id="Re14bfda8393e4f72" /><Relationship Type="http://schemas.openxmlformats.org/officeDocument/2006/relationships/notesMaster" Target="/ppt/notesMasters/notesMaster1.xml" Id="R22ea6642113e4d2a" /><Relationship Type="http://schemas.openxmlformats.org/officeDocument/2006/relationships/presProps" Target="/ppt/presProps.xml" Id="Rd928123366cb46d5" /><Relationship Type="http://schemas.openxmlformats.org/officeDocument/2006/relationships/tableStyles" Target="/ppt/tableStyles.xml" Id="Rfc502bb9d02642c4" /><Relationship Type="http://schemas.openxmlformats.org/officeDocument/2006/relationships/slide" Target="/ppt/slides/slide1.xml" Id="R796196f210874976" /><Relationship Type="http://schemas.openxmlformats.org/officeDocument/2006/relationships/slide" Target="/ppt/slides/slide2.xml" Id="Rc3992183b74b4d57" /><Relationship Type="http://schemas.openxmlformats.org/officeDocument/2006/relationships/slide" Target="/ppt/slides/slide3.xml" Id="Re621e8cf76b548d2" /><Relationship Type="http://schemas.openxmlformats.org/officeDocument/2006/relationships/slide" Target="/ppt/slides/slide4.xml" Id="R8ab43807005f4323" /><Relationship Type="http://schemas.openxmlformats.org/officeDocument/2006/relationships/slide" Target="/ppt/slides/slide5.xml" Id="R94eef48e18da4a05" /><Relationship Type="http://schemas.openxmlformats.org/officeDocument/2006/relationships/slide" Target="/ppt/slides/slide6.xml" Id="R6032a24ad2724e7f" /><Relationship Type="http://schemas.openxmlformats.org/officeDocument/2006/relationships/slide" Target="/ppt/slides/slide7.xml" Id="R0bb0b1a5a0cd4363" /><Relationship Type="http://schemas.openxmlformats.org/officeDocument/2006/relationships/slide" Target="/ppt/slides/slide8.xml" Id="R2de2420104bd4a2c" /><Relationship Type="http://schemas.openxmlformats.org/officeDocument/2006/relationships/slide" Target="/ppt/slides/slide9.xml" Id="R395fc84c4ea143b1" /><Relationship Type="http://schemas.openxmlformats.org/officeDocument/2006/relationships/slide" Target="/ppt/slides/slide10.xml" Id="Recce778acd124541" /><Relationship Type="http://schemas.openxmlformats.org/officeDocument/2006/relationships/slide" Target="/ppt/slides/slide11.xml" Id="Rf31c950a03c44207" /><Relationship Type="http://schemas.openxmlformats.org/officeDocument/2006/relationships/slide" Target="/ppt/slides/slide12.xml" Id="R846f3bc5aa974a89" /><Relationship Type="http://schemas.openxmlformats.org/officeDocument/2006/relationships/slide" Target="/ppt/slides/slide13.xml" Id="R557b41b9e04040b1" /><Relationship Type="http://schemas.openxmlformats.org/officeDocument/2006/relationships/slide" Target="/ppt/slides/slide14.xml" Id="R8ae558ccc25344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e512de21d1498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23f629626a4ae0" /><Relationship Type="http://schemas.openxmlformats.org/officeDocument/2006/relationships/notesMaster" Target="/ppt/notesMasters/notesMaster1.xml" Id="Rff6e3b4c86fd4a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56b6cb18db4baa" /><Relationship Type="http://schemas.openxmlformats.org/officeDocument/2006/relationships/notesMaster" Target="/ppt/notesMasters/notesMaster1.xml" Id="Ra2049ce11f2d4e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2570cfdb5446b0" /><Relationship Type="http://schemas.openxmlformats.org/officeDocument/2006/relationships/notesMaster" Target="/ppt/notesMasters/notesMaster1.xml" Id="R0d97410e06ac4c3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0da8b0c2c694716" /><Relationship Type="http://schemas.openxmlformats.org/officeDocument/2006/relationships/notesMaster" Target="/ppt/notesMasters/notesMaster1.xml" Id="R88445c33bcfc41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97fa84251d47c7" /><Relationship Type="http://schemas.openxmlformats.org/officeDocument/2006/relationships/notesMaster" Target="/ppt/notesMasters/notesMaster1.xml" Id="R4727d79625794c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ce54a3368f4b04" /><Relationship Type="http://schemas.openxmlformats.org/officeDocument/2006/relationships/notesMaster" Target="/ppt/notesMasters/notesMaster1.xml" Id="R9b5606e49ff84b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acafebd67d4eb2" /><Relationship Type="http://schemas.openxmlformats.org/officeDocument/2006/relationships/notesMaster" Target="/ppt/notesMasters/notesMaster1.xml" Id="R830e777a165a449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53aab05cf9e495f" /><Relationship Type="http://schemas.openxmlformats.org/officeDocument/2006/relationships/notesMaster" Target="/ppt/notesMasters/notesMaster1.xml" Id="Rbf79c5f69c344d0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ff027a4f6a84813" /><Relationship Type="http://schemas.openxmlformats.org/officeDocument/2006/relationships/notesMaster" Target="/ppt/notesMasters/notesMaster1.xml" Id="R539792fc12e04f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2df0bb54bbb4b56" /><Relationship Type="http://schemas.openxmlformats.org/officeDocument/2006/relationships/notesMaster" Target="/ppt/notesMasters/notesMaster1.xml" Id="R9b314791fea644c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96d0d377ff4c4a" /><Relationship Type="http://schemas.openxmlformats.org/officeDocument/2006/relationships/notesMaster" Target="/ppt/notesMasters/notesMaster1.xml" Id="R0b68ee3c678149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0b234ca678b4d70" /><Relationship Type="http://schemas.openxmlformats.org/officeDocument/2006/relationships/notesMaster" Target="/ppt/notesMasters/notesMaster1.xml" Id="R36cd9c0341be41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a93fd9e0014b09" /><Relationship Type="http://schemas.openxmlformats.org/officeDocument/2006/relationships/notesMaster" Target="/ppt/notesMasters/notesMaster1.xml" Id="Ra440a38d379642a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ec37718fff14062" /><Relationship Type="http://schemas.openxmlformats.org/officeDocument/2006/relationships/notesMaster" Target="/ppt/notesMasters/notesMaster1.xml" Id="Rbb3a15cb4c8a45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d510d88a6444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619311ba8d4556" /><Relationship Type="http://schemas.openxmlformats.org/officeDocument/2006/relationships/slideLayout" Target="/ppt/slideLayouts/slideLayout1.xml" Id="Re7cc0923b5c0462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cc0923b5c0462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1378697c6e4b1e" /><Relationship Type="http://schemas.openxmlformats.org/officeDocument/2006/relationships/image" Target="/ppt/media/image.png" Id="R8cc5aeccdee54232" /><Relationship Type="http://schemas.openxmlformats.org/officeDocument/2006/relationships/image" Target="/ppt/media/image2.png" Id="R8477c96c0b0b4dbe" /><Relationship Type="http://schemas.openxmlformats.org/officeDocument/2006/relationships/notesSlide" Target="/ppt/notesSlides/notesSlide1.xml" Id="Rda99297ca81e4f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c5e8ade894b27" /><Relationship Type="http://schemas.openxmlformats.org/officeDocument/2006/relationships/notesSlide" Target="/ppt/notesSlides/notesSlide2.xml" Id="Rc04d9b5d22224c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ae74f32ed4d94" /><Relationship Type="http://schemas.openxmlformats.org/officeDocument/2006/relationships/notesSlide" Target="/ppt/notesSlides/notesSlide3.xml" Id="R9ca485a5446445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4f1e8c69e444e" /><Relationship Type="http://schemas.openxmlformats.org/officeDocument/2006/relationships/notesSlide" Target="/ppt/notesSlides/notesSlide4.xml" Id="R1e4d297b79a24d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c8127d495b4e93" /><Relationship Type="http://schemas.openxmlformats.org/officeDocument/2006/relationships/notesSlide" Target="/ppt/notesSlides/notesSlide5.xml" Id="Rcd426e34fc464f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4fd23c6b64d4b" /><Relationship Type="http://schemas.openxmlformats.org/officeDocument/2006/relationships/notesSlide" Target="/ppt/notesSlides/notesSlide6.xml" Id="R34c411d3bb304f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268118a44d4752" /><Relationship Type="http://schemas.openxmlformats.org/officeDocument/2006/relationships/notesSlide" Target="/ppt/notesSlides/notesSlide7.xml" Id="R84b4b4485b4b49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ae4d2af4e43fb" /><Relationship Type="http://schemas.openxmlformats.org/officeDocument/2006/relationships/image" Target="/ppt/media/image3.png" Id="Rc5a3d47432484829" /><Relationship Type="http://schemas.openxmlformats.org/officeDocument/2006/relationships/notesSlide" Target="/ppt/notesSlides/notesSlide8.xml" Id="R3da8c1cf198e4b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66c70005684fef" /><Relationship Type="http://schemas.openxmlformats.org/officeDocument/2006/relationships/image" Target="/ppt/media/image4.png" Id="R017feab107ea49e5" /><Relationship Type="http://schemas.openxmlformats.org/officeDocument/2006/relationships/notesSlide" Target="/ppt/notesSlides/notesSlide9.xml" Id="R7f637bb7e7b845b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7a5852de2f42fc" /><Relationship Type="http://schemas.openxmlformats.org/officeDocument/2006/relationships/image" Target="/ppt/media/image5.png" Id="Rd8c459d084ce4a47" /><Relationship Type="http://schemas.openxmlformats.org/officeDocument/2006/relationships/image" Target="/ppt/media/image6.png" Id="R1de5bccca84f430a" /><Relationship Type="http://schemas.openxmlformats.org/officeDocument/2006/relationships/notesSlide" Target="/ppt/notesSlides/notesSlide10.xml" Id="Raa73ae3b6ecb49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8c7a51b604f2b" /><Relationship Type="http://schemas.openxmlformats.org/officeDocument/2006/relationships/notesSlide" Target="/ppt/notesSlides/notesSlide11.xml" Id="Ra8c71f776cf946f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33d215e7a14c94" /><Relationship Type="http://schemas.openxmlformats.org/officeDocument/2006/relationships/notesSlide" Target="/ppt/notesSlides/notesSlide12.xml" Id="Rec4bb60a021c499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5d7b47e3c445e" /><Relationship Type="http://schemas.openxmlformats.org/officeDocument/2006/relationships/notesSlide" Target="/ppt/notesSlides/notesSlide13.xml" Id="R06d057b4d45747e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e669c25e14e41" /><Relationship Type="http://schemas.openxmlformats.org/officeDocument/2006/relationships/notesSlide" Target="/ppt/notesSlides/notesSlide14.xml" Id="R7993e01c80154f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CFF3D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235B3D-8D8E-42AC-B741-987F843A8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8625"/>
            <a:ext cx="11049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507A9-3FE4-4AEF-BD05-6FBE187D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81375"/>
            <a:ext cx="12192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AE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39BAC-D086-4076-8C7E-E3DABD32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11049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c5aeccdee54232"/>
          <a:stretch xmlns:a="http://schemas.openxmlformats.org/drawingml/2006/main"/>
        </p:blipFill>
        <p:spPr>
          <a:xfrm xmlns:a="http://schemas.openxmlformats.org/drawingml/2006/main">
            <a:off x="857250" y="815686"/>
            <a:ext cx="1143000" cy="1073727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7c96c0b0b4dbe"/>
          <a:stretch xmlns:a="http://schemas.openxmlformats.org/drawingml/2006/main"/>
        </p:blipFill>
        <p:spPr>
          <a:xfrm xmlns:a="http://schemas.openxmlformats.org/drawingml/2006/main">
            <a:off x="9601200" y="683571"/>
            <a:ext cx="1333500" cy="97600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06CC6-29B8-4EE9-8544-13925509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74295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6C1440-87B5-4541-9E3D-001A28AF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162050"/>
            <a:ext cx="752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AHMADU BELLO UNIVERSITY, ZARIA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63F8F-AA55-4406-88BD-0002EDB6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COEN 807 - MACHINE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59F49-BFCF-4E2F-BB8B-D6D2EB69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495550"/>
            <a:ext cx="752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PREDICTING AT-RISK STUDENT ACADEMIC PERFORMANCE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39926-8B4F-4334-A181-7F281B57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52750"/>
            <a:ext cx="714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2025/2026 FIRST SEMESTER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3F9794-E26F-48D1-9ED9-49B5330BD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099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PROJECT-BASED EXAMINATION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642F8-633E-434C-B0BC-05942D0EE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E31937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E31937"/>
                </a:solidFill>
                <a:latin typeface="Aptos"/>
                <a:ea typeface="Aptos"/>
                <a:cs typeface="Aptos"/>
              </a:rPr>
              <a:t>BY: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1EEEFC-5410-4AA8-8B57-F19B9FFA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95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MUSBAHU TIJJANI</a:t>
            </a:r>
          </a:p>
          <a:p xmlns:a="http://schemas.openxmlformats.org/drawingml/2006/main">
            <a:pPr algn="ctr">
              <a:defRPr sz="25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P25EGCP8009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9B8E5D-B2B2-4D1D-B7BD-4657FA49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191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JUNE, 2026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C816C9-6AD9-4A95-85FA-E1171C1EF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6115050"/>
            <a:ext cx="2571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9525">
            <a:solidFill>
              <a:srgbClr val="00206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7E501D-4F2B-4CD8-AF18-802D192D7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61912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JUNE, 2026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69B488-ED84-46BF-B1DF-00689B57A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353175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D59901-9462-4B76-A029-0C47D95F6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429375"/>
            <a:ext cx="228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75416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4CD531-5CA7-4D4D-8BB1-C8772E72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F8A92B-7795-41CB-8C3B-99AD8D0EF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75C"/>
          </a:solidFill>
          <a:ln xmlns:a="http://schemas.openxmlformats.org/drawingml/2006/main" w="9525">
            <a:solidFill>
              <a:srgbClr val="0627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60ACCF-4CDE-4D32-80B4-1CD3B36E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139F6D-2E35-4DED-B4B4-F4EBD08B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C4FED-00FB-4C04-A00B-D64D6324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PROBLEM OVERVIEW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613C4A-3572-4AC2-8A09-08EF8E5D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The Project Meets the Lecturer's Requirements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26D975-4768-40AB-846C-BD1FA544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10668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D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BDB19-B5C2-4257-BCB1-F686329A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2952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8BB023-9590-48B3-881E-12F76542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1BBC4-8CAE-4903-A010-411772D15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C3488-B66B-4CFF-BD15-47DB1EE0C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52675"/>
            <a:ext cx="2571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Predict students who may be at risk of failing so academic support can begin before final outcomes.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A8FCA-04A0-4095-B0A6-384687CE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62125"/>
            <a:ext cx="2952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104B5-0A86-4899-A8E3-37C486F7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62125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E162A-EEA7-435A-A40F-CA0C06C4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9335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Objective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ABED03-57E2-414C-B862-0FC5FCDA4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52675"/>
            <a:ext cx="2571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Build and compare supervised ML models using student, school, family, and behavioural data.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AF05A8-8F18-4BAC-B3CC-983875445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62125"/>
            <a:ext cx="2952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9E8BFC-818F-4749-B988-0105DE16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62125"/>
            <a:ext cx="57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9525">
            <a:solidFill>
              <a:srgbClr val="0020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9FD88F-CF04-47A9-8884-C28BA359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335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Decision 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76573E-BC17-4309-8664-4B2596A3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52675"/>
            <a:ext cx="2571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Use predictions for tutoring, advising, and support rather than punishment or exclusion.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5E2CD4-A96F-4DBB-9B09-101C68B4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48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Evidence included: report, slides, GitHub code, dataset files, results, models, and figures.</a:t>
            </a:r>
          </a:p>
        </p:txBody>
      </p:sp>
    </p:spTree>
    <p:extLst>
      <p:ext uri="{BB962C8B-B14F-4D97-AF65-F5344CB8AC3E}">
        <p14:creationId xmlns:p14="http://schemas.microsoft.com/office/powerpoint/2010/main" val="5793686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AF927D-A445-4D5A-A49B-6C0D0BA8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E4CD58-7A63-4A93-A29E-EDDA85B1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75C"/>
          </a:solidFill>
          <a:ln xmlns:a="http://schemas.openxmlformats.org/drawingml/2006/main" w="9525">
            <a:solidFill>
              <a:srgbClr val="0627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A23F6C-6C9F-4419-B74F-B87BC980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83AF08-A25E-4982-8BF7-DAF7F608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2D3DB-C018-4496-A178-33866DD3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DATASET DESCRIPTION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D4771C-8AA9-4186-9CC1-C7FEA174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The Dataset Is Public, Relevant, and Suitable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38C67-1C8E-4F33-91F0-5A482556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10668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D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BE544-410F-4AEE-BA0C-51E475FE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14500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DE939-0F24-4C20-A386-561F47760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FBB34-8388-44AA-9575-61541F3E2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UCI Machine Learning Repository</a:t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Student Performance 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BB3F47-D73E-48F5-AFB1-F56CC451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14500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BFED5-8C07-490D-A982-EB77F1EB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18859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3A0B2-3911-4D74-B796-6A6EFB8F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3622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At_Risk = 1 if G3 &lt; 10</a:t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otherwise 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4000FC-ACF6-4097-BE7B-BEE81744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14500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02937-7BB6-415E-8377-44603D26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8859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EB354C-465A-4CCF-A222-3F8E6A0F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649 records</a:t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33 original variables</a:t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0 missing values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48294D-FF54-4D49-9D89-22C3DC933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1714500"/>
            <a:ext cx="2381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8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ADE6BC-32CF-41E5-A880-A00EFA20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188595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Class Balance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A7B908-F72B-40DB-B0E7-A2F68A04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362200"/>
            <a:ext cx="20383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100 at-risk students</a:t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549 not-at-risk students</a:t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Accuracy alone is misleading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06A3D3-B783-4DBF-9BA5-F5B3EA50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9530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Selected file: data/raw/student/student-por.csv</a:t>
            </a:r>
          </a:p>
        </p:txBody>
      </p:sp>
    </p:spTree>
    <p:extLst>
      <p:ext uri="{BB962C8B-B14F-4D97-AF65-F5344CB8AC3E}">
        <p14:creationId xmlns:p14="http://schemas.microsoft.com/office/powerpoint/2010/main" val="194975205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02D10F-192E-4A4D-89F0-FC480B581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1AC27-FA57-48F3-A9BB-5CB34918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75C"/>
          </a:solidFill>
          <a:ln xmlns:a="http://schemas.openxmlformats.org/drawingml/2006/main" w="9525">
            <a:solidFill>
              <a:srgbClr val="0627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C0EBFF-7D73-4B5B-9B8F-ABA31461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E70F2B-19A7-45E9-BC0E-A81BC93F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0460B6-88E7-4E6C-BAA0-C8010FB8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METHODOLOGY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B1806-3530-4230-A471-2F242BA5C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 Reproducible End-to-End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1BA98B-6066-4DC3-8B1B-7A2010EF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10668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D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D560B-3DD6-4E37-892D-72330474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A4C66C-F2F8-451D-8E63-3364523F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4479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5FF8D2-BCD0-422E-909A-1DAB46EF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479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Acquire public dataset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B382DC-4961-4D64-AD0B-243BD360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622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D0CC30-95F8-4AF0-8314-3AE842944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238375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E0AEB-294E-47EA-930A-B3B199C7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4479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216337-6EA8-4513-AE74-3A2CAC02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479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Engineer At_Risk target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5F9761-7661-40CC-946F-7AFC7E7E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622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AB07C-99F0-4C08-B44F-B758E76B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238375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DDCCE3-2B49-4A61-A517-FCB1CFC8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4479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97CA64-76FF-4EA8-8D5D-D5633FAC5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479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Preprocess features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A33030-0FF5-4E34-A31F-26A27186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622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F5C43E-1C2A-4379-82A7-6C0A0B39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238375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F9F6AB-EC9A-47FD-9B5D-3BD62627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4479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A2407E-D370-4BC7-85BD-6929E28A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479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Train and tune models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5B90FD-FBF0-4EAC-9D22-9B712875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62225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883AF1-AFE8-4F0A-B0DD-4EC60B38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238375"/>
            <a:ext cx="1809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172D30-2AF7-4E8D-8AEA-0D0E9F2B7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447925"/>
            <a:ext cx="361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0B89F2-3A7A-4BF9-9396-BA96C4B3B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47925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Evaluate and interpret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22808F-FE08-45C2-8111-AC3CA426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48125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Scikit-learn pipelines keep preprocessing, training, and evaluation reproducible.</a:t>
            </a:r>
          </a:p>
        </p:txBody>
      </p:sp>
    </p:spTree>
    <p:extLst>
      <p:ext uri="{BB962C8B-B14F-4D97-AF65-F5344CB8AC3E}">
        <p14:creationId xmlns:p14="http://schemas.microsoft.com/office/powerpoint/2010/main" val="6315540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7BD577-DE9D-4090-AB87-FAEB1828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28802D-0E13-4C97-A7DB-93B70F56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75C"/>
          </a:solidFill>
          <a:ln xmlns:a="http://schemas.openxmlformats.org/drawingml/2006/main" w="9525">
            <a:solidFill>
              <a:srgbClr val="0627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CBC5C-4A88-415D-8204-0ADF5925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A5341-F3FF-423E-8D7D-85D82F956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5B765-8FE0-44A7-80D6-76D66578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PREPROCESSING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FA10F-CBA5-45BF-9AEF-AA4AA481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Feature Engineering Prepares the Student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6E3E82-F257-433D-A947-C51B2CAB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10668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D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9D498-A510-49EA-A3E6-B0A0BA93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30003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28FE0-1E73-42AF-B38C-F7F9F931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9ECBB8-8A3E-44F0-A1BD-F19FAA76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838325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Target Engineering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51CEA2-30C7-4F86-80E5-BDFCDEF4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257425"/>
            <a:ext cx="2619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At_Risk = 1 if final grade G3 is below 10.</a:t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This turns final performance into a support-focused classification task.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E01C19-533E-4EEF-86C8-F641E0074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66875"/>
            <a:ext cx="30003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691F69-0889-4249-8441-F0F84F53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66875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00D0E0-4206-48C7-AB50-397BA389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838325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Feature Processing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4F9484-93B4-4D8D-99EA-FAEFA3570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257425"/>
            <a:ext cx="2619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Categorical variables use one-hot encoding.</a:t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Numerical variables use median imputation and standardisation.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D6F6F5-B546-40D8-BDDF-1D0D1227C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666875"/>
            <a:ext cx="300037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3560AC-9AC9-41B5-B47D-7A9AA27F1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666875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9525">
            <a:solidFill>
              <a:srgbClr val="0020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9D9D16-25BB-4AF3-AC71-8D33056D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838325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Two Experiments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906195-963E-4473-84FA-001EEF48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257425"/>
            <a:ext cx="2619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Early-warning excludes G1 and G2.</a:t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Performance-aware includes G1 and G2 to examine grade-history impact.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867E4F-D76B-4DDD-A0FE-CFD43448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810125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Train-test split: stratified 80/20 with fixed random seed.</a:t>
            </a:r>
          </a:p>
        </p:txBody>
      </p:sp>
    </p:spTree>
    <p:extLst>
      <p:ext uri="{BB962C8B-B14F-4D97-AF65-F5344CB8AC3E}">
        <p14:creationId xmlns:p14="http://schemas.microsoft.com/office/powerpoint/2010/main" val="10947026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3591EF-C0CA-404C-A594-EF3D1BFC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D3ACA-40E8-4EC6-BC3A-B438F0ED4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75C"/>
          </a:solidFill>
          <a:ln xmlns:a="http://schemas.openxmlformats.org/drawingml/2006/main" w="9525">
            <a:solidFill>
              <a:srgbClr val="0627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EAD630-C8AF-43A0-80B6-449242133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314A6-D650-4E26-99F1-7B4B95C1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62986F-3C77-44C6-82D5-98F58A91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EXPERIMENTAL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77C226-8385-4EF3-84C3-8DBA9C01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Six Classifiers Use the Same Tuning Protocol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F334FC-1537-4546-BFD4-771215B4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10668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D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1332C-D31D-441F-97BD-C02D2F42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3333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1E3293-043A-44F7-A7DD-4613E527D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66875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35F71-5A58-4259-8BED-60F137FC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8383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Models Compared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A7C30-B342-496E-9E7E-477A8A88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57425"/>
            <a:ext cx="2952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Dummy Majority</a:t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Logistic Regression</a:t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Decision Tree</a:t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Random Forest</a:t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Gradient Boosting</a:t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Support Vector Machine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E457E8-D730-406F-88B6-128AD8A7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3333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D34361-B2A3-40EC-A3E4-859A054E0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F1AD78-0A44-4788-BF93-CCFD34B8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8383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Tuning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B93E67-4126-4158-8429-6FADE4FF5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257425"/>
            <a:ext cx="2952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Five-fold stratified cross-validation.</a:t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Grid search over model hyperparameters.</a:t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Primary tuning score: At_Risk F1.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96652-5D6D-4EFF-8137-B74D2534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66875"/>
            <a:ext cx="3333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8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64C2EE-ABE1-4940-B213-2FFD32D3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666875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12E"/>
          </a:solidFill>
          <a:ln xmlns:a="http://schemas.openxmlformats.org/drawingml/2006/main" w="9525">
            <a:solidFill>
              <a:srgbClr val="C9912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1310F0-613C-4593-AFE3-7E17981E4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8383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Reason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3BD857-F8FB-4C14-9191-8C2A20D4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257425"/>
            <a:ext cx="2952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The baseline checks imbalance.</a:t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Linear, tree, ensemble, and margin-based models give a fair comparison.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B886F6-D36A-41E6-BE82-361CA27C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76250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106849-E557-4A01-9C69-AA04D84C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339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C53F10-8979-46E6-9FB8-4F32FD84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26732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CV folds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EF1701-1932-44BB-BBC7-DD9F302A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76250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F35481-084D-498B-905C-011565FA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49339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1F8526-8473-4230-9576-6A91D7CC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526732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Test split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DBA4ED-F860-425A-90BA-885563CF4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6250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ADC059-CF88-49C2-9D4A-0EEC2014D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3395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23A4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23A48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DBD82E-1417-4F85-9C2D-3B83C9B7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6732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Primary metric</a:t>
            </a:r>
          </a:p>
        </p:txBody>
      </p:sp>
    </p:spTree>
    <p:extLst>
      <p:ext uri="{BB962C8B-B14F-4D97-AF65-F5344CB8AC3E}">
        <p14:creationId xmlns:p14="http://schemas.microsoft.com/office/powerpoint/2010/main" val="10701385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C2588B-EB95-4362-B4EB-9789B202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BAE75-046B-4BAB-9CF5-B71F0DE4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75C"/>
          </a:solidFill>
          <a:ln xmlns:a="http://schemas.openxmlformats.org/drawingml/2006/main" w="9525">
            <a:solidFill>
              <a:srgbClr val="0627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99156-A102-4420-A0A9-E32C9D93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DDE888-DA1A-4C80-BCAD-736ABA07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1658AF-1093-42A3-BB6A-BD3502462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EXPERIMENTAL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8D78B2-A2DB-476A-9CB1-81092A7C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Evaluation Goes Beyond 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8B463-3DDD-4F9B-8303-C7CF49E0A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10668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D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1C6A74-DBB0-47B2-AE51-78C869DA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2952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65082-B640-4342-946D-023DAAA2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9525">
            <a:solidFill>
              <a:srgbClr val="B23A4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72B40F-D66B-4437-AAB5-BB624F53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19335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Why Not Accuracy Alone?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DF207-F923-4F6D-8D95-94EAC295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352675"/>
            <a:ext cx="25717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The majority class is much larger. A model can look accurate while detecting no at-risk students.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1076A-E89F-497E-986E-CAE7ECCA4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62125"/>
            <a:ext cx="2952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5EC285-E82C-4A05-9AD4-7181487B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762125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5FAAC7-3BB2-4286-B3CC-CC7BF60B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9335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Primary Metrics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B38AC4-3AC0-4122-B350-197B77585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2352675"/>
            <a:ext cx="25717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At-risk recall identifies students needing support.</a:t>
            </a:r>
          </a:p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At-risk F1 balances recall and precision.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E79539-AE66-415C-A675-74AF89B9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62125"/>
            <a:ext cx="2952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05337A-50FF-43E4-B296-5AEF2572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762125"/>
            <a:ext cx="571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9525">
            <a:solidFill>
              <a:srgbClr val="0020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138EC5-C120-4959-957B-DC9C8EBB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93357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Operational 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CC26C8-F74E-4618-B658-5293833A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52675"/>
            <a:ext cx="25717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Confusion matrices show false negatives and false positives clearly for support planning.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310E39-79A3-478D-B60B-18779E82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0062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Also reported: balanced accuracy, precision, ROC-AUC, and confusion matrix counts.</a:t>
            </a:r>
          </a:p>
        </p:txBody>
      </p:sp>
    </p:spTree>
    <p:extLst>
      <p:ext uri="{BB962C8B-B14F-4D97-AF65-F5344CB8AC3E}">
        <p14:creationId xmlns:p14="http://schemas.microsoft.com/office/powerpoint/2010/main" val="11636043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CEC656-B096-4C7B-ACB0-62E92D9FC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87ABB-A8B2-47EE-992F-9FDB466A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75C"/>
          </a:solidFill>
          <a:ln xmlns:a="http://schemas.openxmlformats.org/drawingml/2006/main" w="9525">
            <a:solidFill>
              <a:srgbClr val="0627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B9647A-AEC8-4552-B8D2-6C98905E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4D069-5359-4752-8EC1-A175F567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498F8-F475-4A7E-B22D-F51D0B0F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01BA4A-3511-4EFA-ABAE-9EB12439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Random Forest Leads Without G1 and G2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4C20AB-34C6-4600-822D-64D3B630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10668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D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EFAA2B-927D-435D-A56C-74B7C0A8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55245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a3d47432484829"/>
          <a:stretch xmlns:a="http://schemas.openxmlformats.org/drawingml/2006/main"/>
        </p:blipFill>
        <p:spPr>
          <a:xfrm xmlns:a="http://schemas.openxmlformats.org/drawingml/2006/main">
            <a:off x="1302221" y="1704975"/>
            <a:ext cx="4558358" cy="30194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54E13-41F8-4794-A691-51FE77D0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66875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11B710-D438-4796-B987-7F673FBF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38325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RF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0F02E-E82C-451B-AF34-10321B3C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1717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Best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E47971-CB4C-4159-B864-294E6287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666875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F8B1C3-20D0-46CE-97DF-DB1FA92ED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838325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0.800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DBD548-2E65-461D-8E8B-BD4312C8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717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B1009F-11B8-4B72-B45A-E57C67D2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5275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BE103A-69D6-4D39-A3AC-B8083F0C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1242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0.582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A2E6B5-EF92-4DE8-97E1-D37F2C38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4575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F1-score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2CA25-88D3-4563-B2B2-FE521709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5275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855CDA-8A34-452B-A01D-3E5353CFC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1242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0.822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F2468D-A090-462B-8680-DAF1183CB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4575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ROC-AUC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2BB007-F60C-4CA9-81CD-A0CA79AB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38625"/>
            <a:ext cx="400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8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178B46-089A-40E0-9AFD-EEC6E4CA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38625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12E"/>
          </a:solidFill>
          <a:ln xmlns:a="http://schemas.openxmlformats.org/drawingml/2006/main" w="9525">
            <a:solidFill>
              <a:srgbClr val="C991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3E1270-1323-4C16-AC6C-C06B83A6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4100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E36987-3048-4FC1-B4E6-42868FC0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8291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Detected 16 of 20 at-risk students, with 19 false positives.</a:t>
            </a:r>
          </a:p>
        </p:txBody>
      </p:sp>
    </p:spTree>
    <p:extLst>
      <p:ext uri="{BB962C8B-B14F-4D97-AF65-F5344CB8AC3E}">
        <p14:creationId xmlns:p14="http://schemas.microsoft.com/office/powerpoint/2010/main" val="12166869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31A500-DF6A-4717-9518-9EA9BF41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B8BF4-1E9B-4B12-8537-1F5A4FC2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75C"/>
          </a:solidFill>
          <a:ln xmlns:a="http://schemas.openxmlformats.org/drawingml/2006/main" w="9525">
            <a:solidFill>
              <a:srgbClr val="0627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41F3C4-E57C-4079-A455-94A2A720C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3E5437-42C1-4C56-A439-29B849CF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A6A900-45BB-4263-B6A8-E1BB997F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RESULTS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010E4-132D-4AC8-B823-0B6DE6A16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G1 and G2 Improve Predictive Performance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D549EA-6819-4C65-871B-200DE396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10668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D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A94278-8C3D-416E-961A-5F825424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71625"/>
            <a:ext cx="55245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7feab107ea49e5"/>
          <a:stretch xmlns:a="http://schemas.openxmlformats.org/drawingml/2006/main"/>
        </p:blipFill>
        <p:spPr>
          <a:xfrm xmlns:a="http://schemas.openxmlformats.org/drawingml/2006/main">
            <a:off x="1302221" y="1704975"/>
            <a:ext cx="4558358" cy="30194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2D89D2-8DA6-4867-A787-ED29DA74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66875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E79B92-9D8B-4318-A958-033A32EE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838325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SVM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5DA238-7339-44DC-84E4-BD2D023F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1717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Best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1F4792-B4A5-4173-8F88-20CFBCBF1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666875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15046-29A1-4C10-9880-EA6D69AF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1838325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0.908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92D81A-A112-4AEA-8D56-C04DD9CE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171700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F786ED-A818-4283-9492-06E97556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5275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A94C10-E649-451D-9710-DA08EACE2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1242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0.850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4EC17-0D31-4CAE-95EF-15A1DD45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34575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14C94B-093F-412B-B73F-5816ED47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952750"/>
            <a:ext cx="1619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5969DC-9D4F-47A0-BF5F-42CFCF6B6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1242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0.739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53AE7A-9293-4D78-8CDE-BE35F9C9E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457575"/>
            <a:ext cx="1390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F1-score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34E0D1-41CC-4E8B-A211-A3719E92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38625"/>
            <a:ext cx="4000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8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36D2C5-13FE-40A5-9572-B0E53266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38625"/>
            <a:ext cx="571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12E"/>
          </a:solidFill>
          <a:ln xmlns:a="http://schemas.openxmlformats.org/drawingml/2006/main" w="9525">
            <a:solidFill>
              <a:srgbClr val="C9912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24A941-DDAF-44B4-AABA-6614C8E0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4100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Interpretation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454BE4-6387-4241-9FE8-EC298B3C5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829175"/>
            <a:ext cx="361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Detected 17 of 20 at-risk students and reduced false positives to 9.</a:t>
            </a:r>
          </a:p>
        </p:txBody>
      </p:sp>
    </p:spTree>
    <p:extLst>
      <p:ext uri="{BB962C8B-B14F-4D97-AF65-F5344CB8AC3E}">
        <p14:creationId xmlns:p14="http://schemas.microsoft.com/office/powerpoint/2010/main" val="85933196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45041E-BFAD-4677-94B6-AFACB32BF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B74ADD-A05D-4694-874F-BFCE4D25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75C"/>
          </a:solidFill>
          <a:ln xmlns:a="http://schemas.openxmlformats.org/drawingml/2006/main" w="9525">
            <a:solidFill>
              <a:srgbClr val="0627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05D06-ED1E-449D-886B-B1DF5A79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468C2-F1CF-4475-A958-9218F0A8B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436F8A-31BC-4D04-8A4D-488FA15F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COMPARATIVE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B24ED-F7F4-41FA-B594-21C672B8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Model Choice Depends on Intervention Timing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CA1E06-E4C5-4181-B45A-A713CCADF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10668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D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790E3-32AF-43F8-BA3B-A77F2004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2952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c459d084ce4a47"/>
          <a:stretch xmlns:a="http://schemas.openxmlformats.org/drawingml/2006/main"/>
        </p:blipFill>
        <p:spPr>
          <a:xfrm xmlns:a="http://schemas.openxmlformats.org/drawingml/2006/main">
            <a:off x="914400" y="1845945"/>
            <a:ext cx="2647950" cy="211836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CEAB77-A487-4CF0-9055-D7EC14C4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66875"/>
            <a:ext cx="2952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e5bccca84f430a"/>
          <a:stretch xmlns:a="http://schemas.openxmlformats.org/drawingml/2006/main"/>
        </p:blipFill>
        <p:spPr>
          <a:xfrm xmlns:a="http://schemas.openxmlformats.org/drawingml/2006/main">
            <a:off x="4486275" y="1845945"/>
            <a:ext cx="2647950" cy="211836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1CEFEC-FC2D-4E36-87C2-EA9C3163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31432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E4E288-996E-4906-9A98-3C141C22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66875"/>
            <a:ext cx="571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A6B39-1216-4117-8747-EBFB6396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838325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Main Finding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5F93A3-5490-406D-A82F-DDAD745B8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257425"/>
            <a:ext cx="27622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G1 and G2 strongly improve performance, but the early-warning model is more useful before later grades are available.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A0B34A-81FD-49EF-A863-F647E85C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10125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23A48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23A48"/>
                </a:solidFill>
                <a:latin typeface="Aptos"/>
                <a:ea typeface="Aptos"/>
                <a:cs typeface="Aptos"/>
              </a:rPr>
              <a:t>Accuracy warning: Dummy Majority scored 0.846 but detected no at-risk students.</a:t>
            </a:r>
          </a:p>
        </p:txBody>
      </p:sp>
    </p:spTree>
    <p:extLst>
      <p:ext uri="{BB962C8B-B14F-4D97-AF65-F5344CB8AC3E}">
        <p14:creationId xmlns:p14="http://schemas.microsoft.com/office/powerpoint/2010/main" val="26064100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3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0F3169-953C-46A5-932D-455CCDCB5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1FAC93-8328-444E-9FFA-CE14D767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75C"/>
          </a:solidFill>
          <a:ln xmlns:a="http://schemas.openxmlformats.org/drawingml/2006/main" w="9525">
            <a:solidFill>
              <a:srgbClr val="0627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39FFA-9F03-44AA-9E39-61968EFE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8D35CA-6532-43CF-BC2B-A06A8B89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5AFBC-AED2-4432-8DB0-6CB9E819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KEY FINDINGS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8FE32-65E1-4319-B334-43CF3C5F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Timing, Metrics, and Responsible Use Matter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7BE0BD-47DA-42CD-A88A-8411D16E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10668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D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EA9812-3E96-4FE5-A9F5-23652A7F7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58CFBA-FB23-42B7-B91B-2C91E920D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Finding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3ACBF8-329C-4C14-A33D-F3A99B77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27051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Prior grades G1 and G2 are strong predictors of final academic risk.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D7FBA7-F1BE-4DE1-8ABC-2056D5952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1450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01CBBC-187C-4DAF-80BD-B2D63872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8859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Finding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517E34-77C9-4D09-ADF0-C2A28A79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362200"/>
            <a:ext cx="27051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Early-warning prediction is less accurate but more useful before later grades are available.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35D33B-7F40-4043-9615-57EF60AD6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3048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8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814501-90A2-46ED-98B0-0AF54F62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885950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Finding 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6F00A-A83C-4BF1-8E0D-30F72A23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62200"/>
            <a:ext cx="27051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Accuracy alone is misleading because the majority-class baseline detects no at-risk students.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D0ABE0-37B1-48DE-A183-CFE32179D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Best early-warning model: Random Forest. Best performance-aware model: SVM.</a:t>
            </a:r>
          </a:p>
        </p:txBody>
      </p:sp>
    </p:spTree>
    <p:extLst>
      <p:ext uri="{BB962C8B-B14F-4D97-AF65-F5344CB8AC3E}">
        <p14:creationId xmlns:p14="http://schemas.microsoft.com/office/powerpoint/2010/main" val="135117026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F1E23D-94DA-4A95-B277-D2818F20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6C0E7-C1F5-44F8-B5E5-35686CE8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75C"/>
          </a:solidFill>
          <a:ln xmlns:a="http://schemas.openxmlformats.org/drawingml/2006/main" w="9525">
            <a:solidFill>
              <a:srgbClr val="0627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BEA435-D587-43E6-A95C-FF9F27D15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5FAEBC-CC73-42A9-A345-876BE94E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7F79E4-6BC5-4208-A925-BDB3E0B9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CHALLENGES AND LESSONS LEARNED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B2AAF-7457-4620-862B-FEFB273A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Challenges, Lessons, and Responsible 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3A603-1BF9-42ED-AB0D-BAEBAD43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10668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D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B956F-AE35-42F5-BABA-63A139D9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31432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7E9B4-4B42-48C4-8CB8-1EC28549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571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3A48"/>
          </a:solidFill>
          <a:ln xmlns:a="http://schemas.openxmlformats.org/drawingml/2006/main" w="9525">
            <a:solidFill>
              <a:srgbClr val="B23A4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2490C4-4935-49F5-A5AD-665BB9A10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859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Challenge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F4DB25-4032-4993-A617-CCCB1AE8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27622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The class distribution is imbalanced, so the model can appear accurate while missing at-risk students.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DB163-0404-47FE-A037-4EF94221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31432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F51EBE-2987-444A-948D-60246298E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14500"/>
            <a:ext cx="571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D34C6A-4E16-41F0-BF81-FA0C5FCA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18859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Lesson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7BCB14-C1F5-44FB-AC2B-56C89646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305050"/>
            <a:ext cx="27622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Recall, F1-score, ROC-AUC, and confusion matrices are more informative than accuracy alone.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FC181B-00AB-4D94-ABA8-CBC37AE3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31432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113E6A-4DAC-409D-8698-E1B13EBA5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714500"/>
            <a:ext cx="57150" cy="2524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060"/>
          </a:solidFill>
          <a:ln xmlns:a="http://schemas.openxmlformats.org/drawingml/2006/main" w="9525">
            <a:solidFill>
              <a:srgbClr val="00206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AF040D-1A0B-425B-A4CE-C30D0F790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8859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Responsible Use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5AF77A-6793-4E3F-90E0-4201978B3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05050"/>
            <a:ext cx="2762250" cy="1800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Predictions should guide support, tutoring, and counselling. They should not be used for punishment or exclusion.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227985-1B2E-402B-B449-0B70F608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05375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External validation should use independent Nigerian data and report confidence intervals.</a:t>
            </a:r>
          </a:p>
        </p:txBody>
      </p:sp>
    </p:spTree>
    <p:extLst>
      <p:ext uri="{BB962C8B-B14F-4D97-AF65-F5344CB8AC3E}">
        <p14:creationId xmlns:p14="http://schemas.microsoft.com/office/powerpoint/2010/main" val="4883152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3FB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C96414-C93B-4EE1-8860-7E5E70EE7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51"/>
          </a:solidFill>
          <a:ln xmlns:a="http://schemas.openxmlformats.org/drawingml/2006/main" w="9525">
            <a:solidFill>
              <a:srgbClr val="00A65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CA418-D7B4-4BF3-A731-244ABD2C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"/>
            <a:ext cx="1219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75C"/>
          </a:solidFill>
          <a:ln xmlns:a="http://schemas.openxmlformats.org/drawingml/2006/main" w="9525">
            <a:solidFill>
              <a:srgbClr val="06275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AAF5B-A243-46E2-9D5A-24511E98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72BCF-8BC0-4B91-9766-D5C8E2D6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52636A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52636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A8F36-677C-4C52-8F54-D57F0D0F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95300"/>
            <a:ext cx="3333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SUBMISSION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4E7AF9-D79F-464C-BA85-324A0CAA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7239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The Package Contains Reproducibility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71DB29-946D-4AF2-9C14-3FC3CF8C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71600"/>
            <a:ext cx="10668000" cy="1238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7D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19728-9057-4611-876D-6F384EC5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322E62-955C-4077-81DC-4706F676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3357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EAB14C-7944-4093-A99D-964D1357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9825"/>
            <a:ext cx="27051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COEN807_Technical_Report.pdf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Chapter One to Chapter Five format with results and discussion.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8E34AE-9027-499B-A67E-A79355FF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62125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82A03-F9B8-478C-8410-206FD47C7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93357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Source 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7C2685-36EB-4551-927D-B5A5A5D99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409825"/>
            <a:ext cx="27051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src/train_models.py</a:t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src/build_report.py</a:t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requirements.txt</a:t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run_project.bat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3202AF-8A92-43D5-BFDD-B1511F94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B8"/>
          </a:solidFill>
          <a:ln xmlns:a="http://schemas.openxmlformats.org/drawingml/2006/main" w="9525">
            <a:solidFill>
              <a:srgbClr val="D8E7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7D55F5-73A2-4C3F-8551-BFBF5FEA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93357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206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02060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486B8-EF88-43A1-8428-81D926BF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409825"/>
            <a:ext cx="27051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Dataset/access files</a:t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Generated result CSV/JSON</a:t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Figures</a:t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Trained models</a:t>
            </a:r>
          </a:p>
          <a:p xmlns:a="http://schemas.openxmlformats.org/drawingml/2006/main">
            <a:pPr algn="ctr">
              <a:defRPr sz="1200" b="0">
                <a:solidFill>
                  <a:srgbClr val="0B1F3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B1F3A"/>
                </a:solidFill>
                <a:latin typeface="Aptos"/>
                <a:ea typeface="Aptos"/>
                <a:cs typeface="Aptos"/>
              </a:rPr>
              <a:t>PowerPoint deck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97D999-037D-4B55-A3F4-A78F87400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00625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A65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0A651"/>
                </a:solidFill>
                <a:latin typeface="Aptos"/>
                <a:ea typeface="Aptos"/>
                <a:cs typeface="Aptos"/>
              </a:rPr>
              <a:t>GitHub repository: https://github.com/MusbahuTijjani/COEN807_Student_Performance_ML</a:t>
            </a:r>
          </a:p>
        </p:txBody>
      </p:sp>
    </p:spTree>
    <p:extLst>
      <p:ext uri="{BB962C8B-B14F-4D97-AF65-F5344CB8AC3E}">
        <p14:creationId xmlns:p14="http://schemas.microsoft.com/office/powerpoint/2010/main" val="120615451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0206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7E18E5-B2B9-46CD-8314-CDB670E6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BE3B6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9BE3B6"/>
                </a:solidFill>
                <a:latin typeface="Aptos"/>
                <a:ea typeface="Aptos"/>
                <a:cs typeface="Aptos"/>
              </a:rPr>
              <a:t>CONCLUSION AND FUTURE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47686-DD48-4179-AD1F-6F2191EE3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4300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Machine learning can support early academic intervention when results are evaluated responsibly.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C7D4D-CB46-4412-AB14-3B51D1E5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67000"/>
            <a:ext cx="2857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D77"/>
          </a:solidFill>
          <a:ln xmlns:a="http://schemas.openxmlformats.org/drawingml/2006/main" w="9525">
            <a:solidFill>
              <a:srgbClr val="7DA8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940ECB-43F7-480E-A4B6-8CB1285D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29146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Early Warning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14A8D-247B-47F5-9EEB-B12CF529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390900"/>
            <a:ext cx="2438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Random Forest detected 80% of at-risk students without G1 and G2.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AE27B-7F9D-49DF-89A0-CAF261729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2857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4D"/>
          </a:solidFill>
          <a:ln xmlns:a="http://schemas.openxmlformats.org/drawingml/2006/main" w="9525">
            <a:solidFill>
              <a:srgbClr val="7DA8C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036AB-71D0-43AC-8A56-875E3AD7D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146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8E1B0-D3DF-44A7-A133-346687F5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90900"/>
            <a:ext cx="2438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Performance-aware SVM performs better when prior grades are available.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B92150-EE79-4A0E-A4C3-9460DD2A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67000"/>
            <a:ext cx="285750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7718"/>
          </a:solidFill>
          <a:ln xmlns:a="http://schemas.openxmlformats.org/drawingml/2006/main" w="9525">
            <a:solidFill>
              <a:srgbClr val="7DA8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6FD30-6E3C-46FE-9B2B-3994C697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291465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Future 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330E4D-0435-4D59-98B6-E7E4A572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3390900"/>
            <a:ext cx="2438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Test external validation, nested CV, calibration, threshold optimization, and SHAP/fairness metrics.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EC291E-43E3-4D17-9039-223BF015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BE3B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BE3B6"/>
                </a:solidFill>
                <a:latin typeface="Aptos"/>
                <a:ea typeface="Aptos"/>
                <a:cs typeface="Aptos"/>
              </a:rPr>
              <a:t>https://github.com/MusbahuTijjani/COEN807_Student_Performance_ML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53FC66-711A-4C85-AF03-1E20EBEB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42937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Department of Computer Engineering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BB70B3-5668-484D-8A39-FC05BBAF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6429375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116347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2026-06-21T05:09:03.8290000Z</dcterms:created>
  <dcterms:modified xsi:type="dcterms:W3CDTF">2026-06-21T05:09:03.8290000Z</dcterms:modified>
</coreProperties>
</file>