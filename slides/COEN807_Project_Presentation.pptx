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013feb9014fd2" /><Relationship Type="http://schemas.openxmlformats.org/officeDocument/2006/relationships/extended-properties" Target="/docProps/app.xml" Id="R25190cf0182f48f5" /><Relationship Type="http://schemas.openxmlformats.org/officeDocument/2006/relationships/officeDocument" Target="/ppt/presentation.xml" Id="Ra362764f603648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cb8cb7b4454730"/>
  </p:sldMasterIdLst>
  <p:notesMasterIdLst>
    <p:notesMasterId xmlns:r="http://schemas.openxmlformats.org/officeDocument/2006/relationships" r:id="R0c60d1b5a95e48f8"/>
  </p:notesMasterIdLst>
  <p:sldIdLst>
    <p:sldId xmlns:r="http://schemas.openxmlformats.org/officeDocument/2006/relationships" id="256" r:id="Rb88b213b31124e87"/>
    <p:sldId xmlns:r="http://schemas.openxmlformats.org/officeDocument/2006/relationships" id="257" r:id="R0177d9ec92de46ed"/>
    <p:sldId xmlns:r="http://schemas.openxmlformats.org/officeDocument/2006/relationships" id="258" r:id="Ra049801a2fd542d6"/>
    <p:sldId xmlns:r="http://schemas.openxmlformats.org/officeDocument/2006/relationships" id="259" r:id="R2e8d953928cc4323"/>
    <p:sldId xmlns:r="http://schemas.openxmlformats.org/officeDocument/2006/relationships" id="260" r:id="R82b3912f68f94a40"/>
    <p:sldId xmlns:r="http://schemas.openxmlformats.org/officeDocument/2006/relationships" id="261" r:id="R4dd6bb120c114681"/>
    <p:sldId xmlns:r="http://schemas.openxmlformats.org/officeDocument/2006/relationships" id="262" r:id="R492866176c7b4d20"/>
    <p:sldId xmlns:r="http://schemas.openxmlformats.org/officeDocument/2006/relationships" id="263" r:id="Rb76deea7ea1a40f6"/>
    <p:sldId xmlns:r="http://schemas.openxmlformats.org/officeDocument/2006/relationships" id="264" r:id="R4f7b4f1fb6e84049"/>
    <p:sldId xmlns:r="http://schemas.openxmlformats.org/officeDocument/2006/relationships" id="265" r:id="R73b4a79cb50c4dc2"/>
    <p:sldId xmlns:r="http://schemas.openxmlformats.org/officeDocument/2006/relationships" id="266" r:id="R021b5ae8ade44903"/>
    <p:sldId xmlns:r="http://schemas.openxmlformats.org/officeDocument/2006/relationships" id="267" r:id="Re45c3b2b0dac4cae"/>
    <p:sldId xmlns:r="http://schemas.openxmlformats.org/officeDocument/2006/relationships" id="268" r:id="R3068cf46add5497a"/>
    <p:sldId xmlns:r="http://schemas.openxmlformats.org/officeDocument/2006/relationships" id="269" r:id="Rac7c7578d83447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66c8315e7430a" /><Relationship Type="http://schemas.openxmlformats.org/officeDocument/2006/relationships/slideMaster" Target="/ppt/slideMasters/slideMaster1.xml" Id="Rb6cb8cb7b4454730" /><Relationship Type="http://schemas.openxmlformats.org/officeDocument/2006/relationships/notesMaster" Target="/ppt/notesMasters/notesMaster1.xml" Id="R0c60d1b5a95e48f8" /><Relationship Type="http://schemas.openxmlformats.org/officeDocument/2006/relationships/presProps" Target="/ppt/presProps.xml" Id="Rd5d28a2800084e67" /><Relationship Type="http://schemas.openxmlformats.org/officeDocument/2006/relationships/tableStyles" Target="/ppt/tableStyles.xml" Id="R0ad617130a8d407a" /><Relationship Type="http://schemas.openxmlformats.org/officeDocument/2006/relationships/slide" Target="/ppt/slides/slide1.xml" Id="Rb88b213b31124e87" /><Relationship Type="http://schemas.openxmlformats.org/officeDocument/2006/relationships/slide" Target="/ppt/slides/slide2.xml" Id="R0177d9ec92de46ed" /><Relationship Type="http://schemas.openxmlformats.org/officeDocument/2006/relationships/slide" Target="/ppt/slides/slide3.xml" Id="Ra049801a2fd542d6" /><Relationship Type="http://schemas.openxmlformats.org/officeDocument/2006/relationships/slide" Target="/ppt/slides/slide4.xml" Id="R2e8d953928cc4323" /><Relationship Type="http://schemas.openxmlformats.org/officeDocument/2006/relationships/slide" Target="/ppt/slides/slide5.xml" Id="R82b3912f68f94a40" /><Relationship Type="http://schemas.openxmlformats.org/officeDocument/2006/relationships/slide" Target="/ppt/slides/slide6.xml" Id="R4dd6bb120c114681" /><Relationship Type="http://schemas.openxmlformats.org/officeDocument/2006/relationships/slide" Target="/ppt/slides/slide7.xml" Id="R492866176c7b4d20" /><Relationship Type="http://schemas.openxmlformats.org/officeDocument/2006/relationships/slide" Target="/ppt/slides/slide8.xml" Id="Rb76deea7ea1a40f6" /><Relationship Type="http://schemas.openxmlformats.org/officeDocument/2006/relationships/slide" Target="/ppt/slides/slide9.xml" Id="R4f7b4f1fb6e84049" /><Relationship Type="http://schemas.openxmlformats.org/officeDocument/2006/relationships/slide" Target="/ppt/slides/slide10.xml" Id="R73b4a79cb50c4dc2" /><Relationship Type="http://schemas.openxmlformats.org/officeDocument/2006/relationships/slide" Target="/ppt/slides/slide11.xml" Id="R021b5ae8ade44903" /><Relationship Type="http://schemas.openxmlformats.org/officeDocument/2006/relationships/slide" Target="/ppt/slides/slide12.xml" Id="Re45c3b2b0dac4cae" /><Relationship Type="http://schemas.openxmlformats.org/officeDocument/2006/relationships/slide" Target="/ppt/slides/slide13.xml" Id="R3068cf46add5497a" /><Relationship Type="http://schemas.openxmlformats.org/officeDocument/2006/relationships/slide" Target="/ppt/slides/slide14.xml" Id="Rac7c7578d834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2d28be44549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7692c4bd8949e4" /><Relationship Type="http://schemas.openxmlformats.org/officeDocument/2006/relationships/notesMaster" Target="/ppt/notesMasters/notesMaster1.xml" Id="R456ca944e34648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fa86d5689b4e85" /><Relationship Type="http://schemas.openxmlformats.org/officeDocument/2006/relationships/notesMaster" Target="/ppt/notesMasters/notesMaster1.xml" Id="Rbd14a65d7b5d44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927720ae9d445d" /><Relationship Type="http://schemas.openxmlformats.org/officeDocument/2006/relationships/notesMaster" Target="/ppt/notesMasters/notesMaster1.xml" Id="R4e49c5d45fa3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c76429694c465d" /><Relationship Type="http://schemas.openxmlformats.org/officeDocument/2006/relationships/notesMaster" Target="/ppt/notesMasters/notesMaster1.xml" Id="Rdef8c406ae0b47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32ea7b94cc4ae1" /><Relationship Type="http://schemas.openxmlformats.org/officeDocument/2006/relationships/notesMaster" Target="/ppt/notesMasters/notesMaster1.xml" Id="R3e8e6619d6ea49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ba050826ca4012" /><Relationship Type="http://schemas.openxmlformats.org/officeDocument/2006/relationships/notesMaster" Target="/ppt/notesMasters/notesMaster1.xml" Id="R78127090916645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bf491dbe2d4503" /><Relationship Type="http://schemas.openxmlformats.org/officeDocument/2006/relationships/notesMaster" Target="/ppt/notesMasters/notesMaster1.xml" Id="R5f48bbdcc4ba48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f2bef1feb64555" /><Relationship Type="http://schemas.openxmlformats.org/officeDocument/2006/relationships/notesMaster" Target="/ppt/notesMasters/notesMaster1.xml" Id="Rc1823859eb5341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a04b0ae2334cc0" /><Relationship Type="http://schemas.openxmlformats.org/officeDocument/2006/relationships/notesMaster" Target="/ppt/notesMasters/notesMaster1.xml" Id="Reec944f79c3744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28cd392a2c4162" /><Relationship Type="http://schemas.openxmlformats.org/officeDocument/2006/relationships/notesMaster" Target="/ppt/notesMasters/notesMaster1.xml" Id="Rb28901de8da24c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dae2d3c30e445f" /><Relationship Type="http://schemas.openxmlformats.org/officeDocument/2006/relationships/notesMaster" Target="/ppt/notesMasters/notesMaster1.xml" Id="R63142acf470649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184c22f65d4d91" /><Relationship Type="http://schemas.openxmlformats.org/officeDocument/2006/relationships/notesMaster" Target="/ppt/notesMasters/notesMaster1.xml" Id="Re94347ffd85e48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fe75fbd1bc43db" /><Relationship Type="http://schemas.openxmlformats.org/officeDocument/2006/relationships/notesMaster" Target="/ppt/notesMasters/notesMaster1.xml" Id="Re536b209f02441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6e2b5a153d4252" /><Relationship Type="http://schemas.openxmlformats.org/officeDocument/2006/relationships/notesMaster" Target="/ppt/notesMasters/notesMaster1.xml" Id="Rdec8a1a1077449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2c3349fa6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dd77ec8943497f" /><Relationship Type="http://schemas.openxmlformats.org/officeDocument/2006/relationships/slideLayout" Target="/ppt/slideLayouts/slideLayout1.xml" Id="R344476445dac4d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476445dac4d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14141d9a24af3" /><Relationship Type="http://schemas.openxmlformats.org/officeDocument/2006/relationships/image" Target="/ppt/media/image.png" Id="R35538af013114371" /><Relationship Type="http://schemas.openxmlformats.org/officeDocument/2006/relationships/image" Target="/ppt/media/image2.png" Id="R97c4c3d49e954705" /><Relationship Type="http://schemas.openxmlformats.org/officeDocument/2006/relationships/notesSlide" Target="/ppt/notesSlides/notesSlide1.xml" Id="R67ded310fef841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72b4080984ff2" /><Relationship Type="http://schemas.openxmlformats.org/officeDocument/2006/relationships/notesSlide" Target="/ppt/notesSlides/notesSlide2.xml" Id="Rf10ff3326bad42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346ffb4834d93" /><Relationship Type="http://schemas.openxmlformats.org/officeDocument/2006/relationships/notesSlide" Target="/ppt/notesSlides/notesSlide3.xml" Id="R58cf230ec02f41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ac21e52c84f04" /><Relationship Type="http://schemas.openxmlformats.org/officeDocument/2006/relationships/notesSlide" Target="/ppt/notesSlides/notesSlide4.xml" Id="R49ad527b897645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0140be1024e45" /><Relationship Type="http://schemas.openxmlformats.org/officeDocument/2006/relationships/notesSlide" Target="/ppt/notesSlides/notesSlide5.xml" Id="Rc6e1f1dc6d924b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a493dfd8e4f9b" /><Relationship Type="http://schemas.openxmlformats.org/officeDocument/2006/relationships/notesSlide" Target="/ppt/notesSlides/notesSlide6.xml" Id="Rece305654d2747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74c7d47c94d99" /><Relationship Type="http://schemas.openxmlformats.org/officeDocument/2006/relationships/notesSlide" Target="/ppt/notesSlides/notesSlide7.xml" Id="R0b746a96b82f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a9f8b931940a1" /><Relationship Type="http://schemas.openxmlformats.org/officeDocument/2006/relationships/image" Target="/ppt/media/image3.png" Id="Rea2e40fc4e444ba3" /><Relationship Type="http://schemas.openxmlformats.org/officeDocument/2006/relationships/notesSlide" Target="/ppt/notesSlides/notesSlide8.xml" Id="R80ff461e7c4c43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b0d62ca0c4b7d" /><Relationship Type="http://schemas.openxmlformats.org/officeDocument/2006/relationships/image" Target="/ppt/media/image4.png" Id="Rf53a77e81fab4e1a" /><Relationship Type="http://schemas.openxmlformats.org/officeDocument/2006/relationships/notesSlide" Target="/ppt/notesSlides/notesSlide9.xml" Id="Ref5d9e0d90d740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b0535c0594f80" /><Relationship Type="http://schemas.openxmlformats.org/officeDocument/2006/relationships/image" Target="/ppt/media/image5.png" Id="Rb612c137bd624a3b" /><Relationship Type="http://schemas.openxmlformats.org/officeDocument/2006/relationships/image" Target="/ppt/media/image6.png" Id="Rc65dd2f41b2f42e6" /><Relationship Type="http://schemas.openxmlformats.org/officeDocument/2006/relationships/notesSlide" Target="/ppt/notesSlides/notesSlide10.xml" Id="R8998b964484243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27e361dba4950" /><Relationship Type="http://schemas.openxmlformats.org/officeDocument/2006/relationships/notesSlide" Target="/ppt/notesSlides/notesSlide11.xml" Id="R11d72a16c0d441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57169901643d6" /><Relationship Type="http://schemas.openxmlformats.org/officeDocument/2006/relationships/notesSlide" Target="/ppt/notesSlides/notesSlide12.xml" Id="R523a2890782747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7e6bb9a844e9b" /><Relationship Type="http://schemas.openxmlformats.org/officeDocument/2006/relationships/notesSlide" Target="/ppt/notesSlides/notesSlide13.xml" Id="Rc1224c4fa86f4d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ab06224484fc3" /><Relationship Type="http://schemas.openxmlformats.org/officeDocument/2006/relationships/notesSlide" Target="/ppt/notesSlides/notesSlide14.xml" Id="R0daa505086c044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FF3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1BC31A-253B-4F59-A91B-6ED66436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316AD-34F5-40AD-9788-8CF46459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81375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E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5DFAC-F905-45D9-8E72-D2EC550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104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38af013114371"/>
          <a:stretch xmlns:a="http://schemas.openxmlformats.org/drawingml/2006/main"/>
        </p:blipFill>
        <p:spPr>
          <a:xfrm xmlns:a="http://schemas.openxmlformats.org/drawingml/2006/main">
            <a:off x="857250" y="815686"/>
            <a:ext cx="1143000" cy="1073727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4c3d49e954705"/>
          <a:stretch xmlns:a="http://schemas.openxmlformats.org/drawingml/2006/main"/>
        </p:blipFill>
        <p:spPr>
          <a:xfrm xmlns:a="http://schemas.openxmlformats.org/drawingml/2006/main">
            <a:off x="9601200" y="683571"/>
            <a:ext cx="1333500" cy="97600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C6AE4-42AD-4ABD-815F-FBA7F3C9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7A7F2-285E-42C8-9563-82D15F5D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620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AHMADU BELLO UNIVERSITY, ZARIA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D75DB-5BC7-4B64-8AD4-5F256B6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COEN 807 - 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5AEA-6323-490E-A1DA-1DEDC697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955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PREDICTING AT-RISK STUDENT ACADEMIC 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58E95-1A80-46C2-9EB1-154ADAC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527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2025/2026 FIRST SEMESTER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06742-A459-467B-BD77-A596781A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PROJECT-BASED EXAMINATION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F4B1F-B173-4A78-B687-8C9F5678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31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31937"/>
                </a:solidFill>
                <a:latin typeface="Aptos"/>
                <a:ea typeface="Aptos"/>
                <a:cs typeface="Aptos"/>
              </a:rPr>
              <a:t>BY: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4A846-9292-4CCD-9493-F887142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MUSBAHU TIJJANI</a:t>
            </a:r>
          </a:p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P25EGCP8009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9EB05-71C5-4234-A3C8-EFBBE8BF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JUNE,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54053-E9D2-453D-89D9-6F6D7BF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1150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D4C78-A336-46C9-B073-39BA827B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JUNE,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5830C-89D2-4230-9300-0B90F6B2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531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DDC3A-AA6C-47BD-AE61-341EAE39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2697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3DD42-F49F-4F15-B3AF-C9BD160B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06133-2949-42BB-89AC-C8978285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0B9D-53B5-49D7-9D68-1D58C7AE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31911-B709-47EC-9DD1-8F17EBE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C2264-25CB-4287-908D-4429D92A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PROBLEM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B35D3-DB57-464B-B431-25E9353F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The Project Meets the Lecturer's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D3DC5-9DC3-4F85-A593-E42C0A15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149DB-29CB-4BEF-ACD1-2034BFC2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CF7A2-FC2F-4A2F-8741-4D50662C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7B74E-3B7A-4DB0-A108-FCEAFE7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351F3-C5B6-4763-BCB4-669E9566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Predict students who may be at risk of failing so academic support can begin before final outcomes.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9FD78-D963-4301-85F3-8B9117B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BF1F3-C855-454F-A476-F8B15181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3FC94-CCB8-4E72-B889-2A6C0DFE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83631-A84E-4E53-96C8-1C8BA3FF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Build and compare supervised ML models using student, school, family, and behavioural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792B2-13D2-455B-99E3-D4B31FF9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621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E7A77-5DDC-4A32-9D6F-419025D1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621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26031-1424-42B8-8F84-DD7E62D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Decision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D0D52-349E-460D-BCD6-BCB88342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52675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Use predictions for tutoring, advising, and support rather than punishment or exclusion.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CF6CB-9B20-4951-B17C-BFAD5C8D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Evidence included: report, slides, GitHub code, dataset files, results, models, and figures.</a:t>
            </a:r>
          </a:p>
        </p:txBody>
      </p:sp>
    </p:spTree>
    <p:extLst>
      <p:ext uri="{BB962C8B-B14F-4D97-AF65-F5344CB8AC3E}">
        <p14:creationId xmlns:p14="http://schemas.microsoft.com/office/powerpoint/2010/main" val="417416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8F2CA-0C9F-4038-8F0A-71A167D2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29341-1113-489F-ACDE-2DBBC93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94178-9D75-4B74-A953-2BDC74EF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BDAC0-A327-4C4C-8DFD-70F3511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54AC8-0441-497F-A22E-23A80D7D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DATASET DESCRIPTION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FC360-4027-4CDA-83A3-AFBF1159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The Dataset Is Public, Relevant, and Suitable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4FBC7-B123-4908-985F-778F4DE6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B67F7-3B73-40E5-BADB-D11D4E18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76444-C4F3-4CE9-80F5-3ADB339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365BC-13DA-46F3-AD6D-FDC5A80C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UCI Machine Learning Repository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Student Performance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891B1-C42B-40F9-B798-0FFAED7D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A07E6-42D7-4247-A7D3-2442D49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E7678-BDD9-40DD-B90F-558D03D6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At_Risk = 1 if G3 &lt; 10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otherwise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86EED-0D7E-43E5-8A3F-A288CF3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10DAD-1BF2-4008-8556-11B6C977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F446F-DB10-4D99-B37B-F26A0A41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649 records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33 original variables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0 missing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48D14-DC0A-4134-9544-A6A664B5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75B9B-504C-4DF7-BFA4-EE17F709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Class 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C2329-8D7E-4659-BC69-7C984D8D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100 at-risk students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549 not-at-risk students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Accuracy alone is misleading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5BCDA-99FC-4508-A4E5-DE778FD3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Selected file: data/raw/student/student-por.csv</a:t>
            </a:r>
          </a:p>
        </p:txBody>
      </p:sp>
    </p:spTree>
    <p:extLst>
      <p:ext uri="{BB962C8B-B14F-4D97-AF65-F5344CB8AC3E}">
        <p14:creationId xmlns:p14="http://schemas.microsoft.com/office/powerpoint/2010/main" val="1232401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09DAD-738D-4E94-8CEE-CE686F9F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E9B8-6CA3-45AB-910F-D26B92D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80B4A-AF44-4A76-82A3-B3EF35B5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F0BC-B3C2-4643-A9BD-FEA4A3FD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39D85-2A60-412A-9A6F-8249C0D2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6FD24-1DAB-4E33-91DC-4B939BA0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 Reproducible End-to-End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AA017-3F92-4137-8B56-F17F109C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BDA97-7C3B-49EE-8734-2C496703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93550-2780-469F-B5A9-ECBD2DEB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BA36B-2B8C-4127-9517-48FCD628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Acquire public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AF865-3BE6-49FE-A62E-77DDE21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37CC2-A6BB-44D3-9A05-9FAFC16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E5F6A-2057-4CE5-9356-BBF7DA80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775C1-B2E7-4390-8CE6-462D420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Engineer At_Risk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E24B9-2B13-408C-BA59-8EAF39F2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36364-5BFC-4A91-B8AB-1D7C01B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8D812-B433-4A35-BA54-3AD64001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C8EFB-5CF3-41D5-840A-3E396FC0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Preprocess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848D7-4667-433A-BA48-F03E16D4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C5DCC-0A79-4B8F-9624-8135DA23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8B538-7487-4C3B-ACDC-F509CB28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EC78C-96BE-44C1-9454-49A8DCE2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Train and tune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322A7-4820-46F9-A15E-138341AA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799E9-A504-47AB-A09B-C7BF1FFD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FBF2A-EABF-4838-83CB-00181C2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F1A62-2F9D-4D5B-B239-F87815B9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Evaluate and interpret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B9B5A-54AE-41AC-81DC-1E262F6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481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Scikit-learn pipelines keep preprocessing, training, and evaluation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20955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2B13C-4EB4-416A-9675-ABE8118E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B16D7-2BCA-4BD3-81ED-0C06632E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D1772-B2B9-4092-A3EC-35912DA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39170-5456-458E-882B-6F0AA33A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3F2DC-DF21-4A95-93B1-146AA87C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9A458-4DCC-4BD0-9629-0B024D70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Feature Engineering Prepares the Student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67F6C-69C4-4C5B-B778-BD6712E6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5212B-4896-4A03-8B60-32F2AAAD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3000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DAB24-D02F-4910-A0D7-13B4147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6A052-47E9-4BFA-93B4-602897B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8383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Target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217C7-E50D-4274-8E20-9F1771F1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57425"/>
            <a:ext cx="2619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At_Risk = 1 if final grade G3 is below 10.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This turns final performance into a support-focused classification task.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7BB13-0865-4138-9BD4-CDA34824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66875"/>
            <a:ext cx="3000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68725-1D99-43A6-B959-17221EAE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43C70-80BF-40F7-AC96-979C4BFE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383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Feature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61FAC-9CE5-412E-A938-06F6CFD8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57425"/>
            <a:ext cx="2619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Categorical variables use one-hot encoding.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Numerical variables use median imputation and standardisation.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45CE6-E65A-462B-8921-F9E5F43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3000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BB5AE-6D2D-4CC0-B71E-AF18CB5E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7C1F2-09A7-4F0A-92ED-EFC458E8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383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Two Experiments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7A931-C65A-43EA-9228-462E6F32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57425"/>
            <a:ext cx="2619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Early-warning excludes G1 and G2.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Performance-aware includes G1 and G2 to examine grade-history impact.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48424-121E-48BA-8748-7F898B45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Train-test split: stratified 80/20 with fixed random seed.</a:t>
            </a:r>
          </a:p>
        </p:txBody>
      </p:sp>
    </p:spTree>
    <p:extLst>
      <p:ext uri="{BB962C8B-B14F-4D97-AF65-F5344CB8AC3E}">
        <p14:creationId xmlns:p14="http://schemas.microsoft.com/office/powerpoint/2010/main" val="1533498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6A1B6-1BA0-4B52-BE1C-DFE69B8C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68382-2BCF-4E0A-A96E-22A2EE4C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A90E7-EF3B-470A-B2C5-E43F9F30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444F4-52D6-4929-AE47-0EB323F0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83934-33EF-4399-8AFD-2D76D10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CD95A-B91B-4670-9301-8BB70A33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Six Classifiers Use the Same Tuning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043BF-FABE-4AE7-B3A8-76EB9147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FDA08-5C27-4DD1-AF0B-C19B5C96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BC1D5-BF4A-452D-BB94-F81A487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D3D29-D2F5-43B8-8147-29733B3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38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Models Compared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B6065-DE09-488F-A008-5EE6466F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57425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Dummy Majority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Logistic Regression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Tree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Random Forest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Gradient Boosting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Support Vector Machine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4CAA5-24BE-4B69-9A6C-BBC0CA93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FC906-DFB0-43D7-881A-7AA1C1F6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A4F0E-C63E-4295-973A-B6260D0E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38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EFCBF-4220-4479-8F67-94CDCD76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57425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Five-fold stratified cross-validation.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Grid search over model hyperparameters.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Primary tuning score: At_Risk F1.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5D118-6111-4759-97E7-76C11E5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61FB2-C7B9-4847-887A-142CD6E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2E"/>
          </a:solidFill>
          <a:ln xmlns:a="http://schemas.openxmlformats.org/drawingml/2006/main" w="9525">
            <a:solidFill>
              <a:srgbClr val="C991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B7683-7712-41CA-89E6-5BD2ECA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38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88B44-7A9B-4591-B512-6958826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57425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baseline checks imbalance.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Linear, tree, ensemble, and margin-based models give a fair comparison.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2D22C-4B15-4625-B570-3D6481CF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62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75E27-2D7F-4F42-A457-D6FEFF61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142A4-81F7-4816-B947-D9DF5E93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673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CV folds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956E6-37EA-43FD-95A7-7FFD10A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2CC8E-BE2D-4650-8EC8-705DF82C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93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37EF7-3197-4E02-9FA7-67959AC8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673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Test split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49EB0-31FB-4497-A849-DFA12FC6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6AD35-E84E-4746-B3D5-E2FEEC84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86452-4AA7-4154-9E23-D3408841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673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</p:spTree>
    <p:extLst>
      <p:ext uri="{BB962C8B-B14F-4D97-AF65-F5344CB8AC3E}">
        <p14:creationId xmlns:p14="http://schemas.microsoft.com/office/powerpoint/2010/main" val="577864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DAF2A-1567-4543-97E2-6EE6C9E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5225A-5212-43CD-9516-D4381D56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E8ADB-9612-45B4-8779-8F7BBC0C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0BFD4-AB8A-46BE-8916-9A0C6299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F3807-8D74-4567-A48A-54BB04B4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D5046-CCBE-40AB-A8B1-8A140B4A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Evaluation Goes Beyond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25EE3-57A5-41D7-962A-2724F38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71E3B-BEEB-4FD2-B2C7-DF9FEC4B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41DC9-A94A-4DD7-87E2-5A52820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D6405-1ED1-46BC-ABC2-F627F60A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Why Not Accuracy Alone?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CC804-7625-4768-82E0-5051AE87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52675"/>
            <a:ext cx="2571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majority class is much larger. A model can look accurate while detecting no at-risk students.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09D87-24E0-4EFA-950D-69E854EB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9A79D-6711-4D12-B336-B011D262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194A8-054C-40CC-9EFF-D77C0628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Primary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4257F-7E05-44B4-9FF7-6BD5F436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2571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At-risk recall identifies students needing support.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At-risk F1 balances recall and precision.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B2092-0ACB-49C8-B9C0-5FE88BEF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E80AE-86BB-474A-B436-BB985F61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C660F-C0F3-4499-9FB1-BB9DA6BA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Operational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DC7D4-9411-4E73-B33A-58996E1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52675"/>
            <a:ext cx="2571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Confusion matrices show false negatives and false positives clearly for support planning.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39FEB-557A-41F4-9D64-6E212D9E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006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Also reported: balanced accuracy, precision, ROC-AUC, and confusion matrix counts.</a:t>
            </a:r>
          </a:p>
        </p:txBody>
      </p:sp>
    </p:spTree>
    <p:extLst>
      <p:ext uri="{BB962C8B-B14F-4D97-AF65-F5344CB8AC3E}">
        <p14:creationId xmlns:p14="http://schemas.microsoft.com/office/powerpoint/2010/main" val="1649194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29A647-A363-4351-A651-8B4B176B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16E67-8CC2-47B3-99E8-80946A0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E48AC-7144-4EAB-B337-34B0233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22A9A-D5FB-4DAD-A911-9CE680B8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241F5-FB82-4E9C-989F-895C0122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90522-197F-4CF9-AC28-9C72FBB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Random Forest Leads Without G1 and G2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38819-27A8-425F-9A60-1E7AA408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580CA-7929-4F63-8979-23ED3425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e40fc4e444ba3"/>
          <a:stretch xmlns:a="http://schemas.openxmlformats.org/drawingml/2006/main"/>
        </p:blipFill>
        <p:spPr>
          <a:xfrm xmlns:a="http://schemas.openxmlformats.org/drawingml/2006/main">
            <a:off x="1302221" y="1704975"/>
            <a:ext cx="4558358" cy="3019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231AB-D078-4186-A40A-4C2D875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BFBF0-8D62-4BB3-BC29-F0E9C44D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AF764-760C-48E2-9940-6BB4F641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F52DC-AF92-45D8-9EAB-51D931E4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33040-5BFB-4C80-B68E-66E32359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B54AC-A0FC-4FAF-81B6-4146840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87B29-AA78-4F36-AD52-F25B037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48CD0-681F-4BB4-85A3-38B3BA0A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0.582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6106C-BDA4-4DA6-9D51-C433D53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F1-score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428EA-8FC5-4FF0-ADAE-9D86865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EA782-CA3A-48BA-AE9F-0B8F9FCC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0.822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2DCF3-85C3-462B-A18D-828DB3E4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9554A-91BC-41E6-8B16-7BE0614F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CC060-8458-47E1-A730-1AC22A54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2E"/>
          </a:solidFill>
          <a:ln xmlns:a="http://schemas.openxmlformats.org/drawingml/2006/main" w="9525">
            <a:solidFill>
              <a:srgbClr val="C991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159F5-8965-4A39-B7F6-A53B790B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10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E38B77-692B-4246-B48E-3FF7CC52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291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Detected 16 of 20 at-risk students, with 19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1539101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51CA3-00F2-436C-807F-A176E061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E1C74-73DA-4629-8AD8-883D81E3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4F225-72EA-43A4-8BA3-09442799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FEC9-2869-4FA7-8ECC-D4714A6C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95B64-AC70-4F77-82FE-5376E71C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3E296-B4C5-4E55-BA1D-6610031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G1 and G2 Improve Predictive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6DDC5-10A3-4A7C-8ECC-1EDDC10E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2F504-F952-451A-84CB-50523C3E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a77e81fab4e1a"/>
          <a:stretch xmlns:a="http://schemas.openxmlformats.org/drawingml/2006/main"/>
        </p:blipFill>
        <p:spPr>
          <a:xfrm xmlns:a="http://schemas.openxmlformats.org/drawingml/2006/main">
            <a:off x="1302221" y="1704975"/>
            <a:ext cx="4558358" cy="3019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920E3-F3E4-4E73-A622-0CC1CD7E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9BF71-5F58-4F34-BB33-C9892DB8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F575A-1474-46DA-B035-65F3A3AC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3E265-F044-4EC0-943A-B1257F54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5ECBB-F5F2-4F26-88DB-905A185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0.908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78037-FAC3-48EB-8162-01468E9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F4679-E083-4686-BB1B-C4C67A99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5569A-42E6-4310-B301-4DFBBF33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0.850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0A311-358D-48C4-BB90-94DAB27E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3F43E-25C6-461F-AA82-11DF861F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93E72-A241-41D3-B59D-6977D09B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0.739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205F2-BD8A-4298-BB9C-4380DDD8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F1-score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74E57-7B3F-41F6-9A7E-9665CD8D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B8E50-4C81-4E92-82A2-AA020284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2E"/>
          </a:solidFill>
          <a:ln xmlns:a="http://schemas.openxmlformats.org/drawingml/2006/main" w="9525">
            <a:solidFill>
              <a:srgbClr val="C991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70EFC-A205-4EC5-8DF3-6DD14F69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10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2F7F7-3D3C-47AD-918D-A0C3E85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291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Detected 17 of 20 at-risk students and reduced false positives to 9.</a:t>
            </a:r>
          </a:p>
        </p:txBody>
      </p:sp>
    </p:spTree>
    <p:extLst>
      <p:ext uri="{BB962C8B-B14F-4D97-AF65-F5344CB8AC3E}">
        <p14:creationId xmlns:p14="http://schemas.microsoft.com/office/powerpoint/2010/main" val="1406247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C6B20-B4ED-41D0-96DF-3B003AB8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4A747-2204-4C9F-B79E-AD669437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5EA63-7E4E-4B9F-BAC7-872FC4D4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0B5F0-C17D-4826-83F2-1982473F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0A62A-89A8-4799-947A-7CA486E5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COMPARATIVE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1DCE7-2F5D-406B-90AE-176B37C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Model Choice Depends on Intervention Timing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C8C80-42AD-4015-A886-5EB1AA0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E3843-07CF-4A16-BDA4-EEE9C91A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2c137bd624a3b"/>
          <a:stretch xmlns:a="http://schemas.openxmlformats.org/drawingml/2006/main"/>
        </p:blipFill>
        <p:spPr>
          <a:xfrm xmlns:a="http://schemas.openxmlformats.org/drawingml/2006/main">
            <a:off x="914400" y="1845945"/>
            <a:ext cx="2647950" cy="211836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F5E85-EBD3-4172-BAD7-206FC98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dd2f41b2f42e6"/>
          <a:stretch xmlns:a="http://schemas.openxmlformats.org/drawingml/2006/main"/>
        </p:blipFill>
        <p:spPr>
          <a:xfrm xmlns:a="http://schemas.openxmlformats.org/drawingml/2006/main">
            <a:off x="4486275" y="1845945"/>
            <a:ext cx="2647950" cy="211836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206B0-6487-4D01-BD14-4F103547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F003E-0642-4E48-BDB2-D51D264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421F4-A6FF-4DEC-A8EF-217FAA12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383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Main Finding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A8052-CEE8-4B78-9C27-DDFE987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57425"/>
            <a:ext cx="276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G1 and G2 strongly improve performance, but the early-warning model is more useful before later grades are available.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DDA5F-54E5-4A81-9E09-27B07D7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Accuracy warning: Dummy Majority scored 0.846 but detected no at-risk students.</a:t>
            </a:r>
          </a:p>
        </p:txBody>
      </p:sp>
    </p:spTree>
    <p:extLst>
      <p:ext uri="{BB962C8B-B14F-4D97-AF65-F5344CB8AC3E}">
        <p14:creationId xmlns:p14="http://schemas.microsoft.com/office/powerpoint/2010/main" val="439160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31FFA-76E4-45A2-8BE2-5F7F9BA7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1608D-A152-4882-931B-A663BD3B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9C6AD-AD81-4B5F-BBC8-919FEE9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72B4B-A1DC-4064-B797-51BF1348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C4329-FC46-4095-A5F7-32F3F7F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KEY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E1664-F418-4159-BA22-C4D8693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Timing, Metrics, and Responsible Use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A28A4-75E2-4F35-A3B9-4C8316E8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36DCE-5A6E-49AA-BC4A-65B4E4E3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6DE32-5540-4B53-8A1F-4D69E0E4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Finding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CFB5C-720E-4C9D-A26E-B098EDDF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7051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Prior grades G1 and G2 are strong predictors of final academic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5C8C7-0E1A-49D8-B517-311FA545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2E1E3-E4FF-4A8E-9D6C-BA1A73BB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Finding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3FFD2-63E8-4E22-BBE9-7CF237A8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7051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Early-warning prediction is less accurate but more useful before later grades are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39402-2ADE-4329-B2CF-0DCF62F7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27BE4-0248-47B4-B5C2-FF60B691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Finding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6BC4D-0E27-430E-8CC8-B8027C8A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7051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Accuracy alone is misleading because the majority-class baseline detects no at-risk students.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B291A-E7BF-47D0-A6C5-8FCF0C32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Best early-warning model: Random Forest. Best performance-aware model: SVM.</a:t>
            </a:r>
          </a:p>
        </p:txBody>
      </p:sp>
    </p:spTree>
    <p:extLst>
      <p:ext uri="{BB962C8B-B14F-4D97-AF65-F5344CB8AC3E}">
        <p14:creationId xmlns:p14="http://schemas.microsoft.com/office/powerpoint/2010/main" val="1366739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A6C87-E986-4D4D-A310-30BD1D95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453E3-2CC8-4E8A-8894-23262806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6D526-6B42-4816-B3DA-561BD58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44B47-A9A9-446E-82A7-B2E55BBF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E96B7-A716-4406-A587-B3FAC21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CHALLENGES AND LESSONS LEARNED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B6593-935C-41E7-A5D3-508D81C3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Challenges, Lessons, and Responsible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04E0E-FCD3-47DB-8EDE-16695CC8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644FA-5CF6-414B-B456-158B437A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2D673-530A-4AC3-9C66-1B8C5358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4D8EC-5D52-4D4A-8B5A-D32C7A5A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CA171-EB67-4BFB-B3E6-EC90DD18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7622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class distribution is imbalanced, so the model can appear accurate while missing at-risk students.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46263-89ED-4289-9350-3E027DCC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9D460-E41B-4220-8A2D-510CEC6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B7F23-1647-4BCF-9286-01C795B4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Lesson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0F687-8D4D-4A15-AD36-1EA76FB4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05050"/>
            <a:ext cx="27622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Recall, F1-score, ROC-AUC, and confusion matrices are more informative than accuracy alone.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6BFCF-A82E-499F-882C-8B4C2714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A4644-F32E-4EE1-BC87-A7F71391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9A7F4-A59B-45BE-BE7B-4265642A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Responsible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31EEF-1D43-435A-9A41-CFE02549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27622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Predictions should guide support, tutoring, and counselling. They should not be used for punishment or exclusion.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AB2D2-D47E-450E-A3DD-77E7038F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Before deployment, validate the approach using local Nigerian educational data.</a:t>
            </a:r>
          </a:p>
        </p:txBody>
      </p:sp>
    </p:spTree>
    <p:extLst>
      <p:ext uri="{BB962C8B-B14F-4D97-AF65-F5344CB8AC3E}">
        <p14:creationId xmlns:p14="http://schemas.microsoft.com/office/powerpoint/2010/main" val="1462741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B97C1-4CF2-448A-8841-D5F491FA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F8309-AA60-425E-916C-D28EE07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B8C08-FF98-4EFE-9DDB-A4D5B12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EF1A7-F184-4476-B273-93F79F9C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57828-97D9-4503-9EDA-88A334B3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SUBMISSION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00EE2-3D18-4C95-99F7-B234EC9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The Package Contains Reproducibility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FBFED-ACE2-4964-AC45-D7022C25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71F8D-F59A-44F1-83AA-2FB5972D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98C31-7C99-4037-9195-EDE1C698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33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24EBE-9794-455D-A21A-56858103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2705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COEN807_Technical_Report.pdf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Chapter One to Chapter Five format with results and discussion.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0FE77-2A0D-489E-B842-91F25010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1A8CA-22A7-4D1D-A09E-0371F874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33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Source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AAB50-5930-44C7-89D3-3D7F10D3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9825"/>
            <a:ext cx="2705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src/train_models.py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src/build_report.py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requirements.txt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run_project.bat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FB8CE-F29B-4878-B79B-D57CB10D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8F24E-49C5-47FB-A3EB-A87961F3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33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A3034-F44D-43E9-B27D-C29D9D32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9825"/>
            <a:ext cx="2705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Dataset/access files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Generated result CSV/JSON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Figures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Trained models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PowerPoint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DA854-177B-4251-944C-C8E6452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GitHub repository: https://github.com/MusbahuTijjani/COEN807_Student_Performance_ML</a:t>
            </a:r>
          </a:p>
        </p:txBody>
      </p:sp>
    </p:spTree>
    <p:extLst>
      <p:ext uri="{BB962C8B-B14F-4D97-AF65-F5344CB8AC3E}">
        <p14:creationId xmlns:p14="http://schemas.microsoft.com/office/powerpoint/2010/main" val="20759480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20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1DE4A7-6F8D-4C58-BA31-CBBDF6AD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E3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BE3B6"/>
                </a:solidFill>
                <a:latin typeface="Aptos"/>
                <a:ea typeface="Aptos"/>
                <a:cs typeface="Aptos"/>
              </a:rPr>
              <a:t>CONCLUSION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B22A1-F4C7-4CE7-B42B-47569062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can support early academic intervention when results are evaluated responsibly.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F7322-B911-4CED-A693-842731C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D77"/>
          </a:solidFill>
          <a:ln xmlns:a="http://schemas.openxmlformats.org/drawingml/2006/main" w="9525">
            <a:solidFill>
              <a:srgbClr val="7DA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E3402-D332-4AA7-810D-E69AD76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14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Early Warning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28508-EB29-4C9D-9471-37501857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90900"/>
            <a:ext cx="243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Random Forest detected 80% of at-risk students without G1 and G2.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B28D0-B308-4D42-A910-9673788B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9525">
            <a:solidFill>
              <a:srgbClr val="7DA8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524C5-B656-41F0-90A6-BD5FE5B8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11147-9C7A-4AD4-A05B-A24CF829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43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Performance-aware SVM performs better when prior grades are 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5FFDD-5781-4903-B7CB-35EC3EAF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7718"/>
          </a:solidFill>
          <a:ln xmlns:a="http://schemas.openxmlformats.org/drawingml/2006/main" w="9525">
            <a:solidFill>
              <a:srgbClr val="7DA8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86C6C-82D1-439D-A348-B18342B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14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29907-463F-4A53-9020-4B59D49C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90900"/>
            <a:ext cx="243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locally, tune thresholds, audit fairness, and improve calibration.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400AA-B53F-477D-88F6-602FFDCA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BE3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E3B6"/>
                </a:solidFill>
                <a:latin typeface="Aptos"/>
                <a:ea typeface="Aptos"/>
                <a:cs typeface="Aptos"/>
              </a:rPr>
              <a:t>https://github.com/MusbahuTijjani/COEN807_Student_Performance_ML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5B77E-D599-43B0-A9DD-3ABB864F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940A6-9D86-4FA0-B224-6660E47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41487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2026-06-20T17:36:07.7940000Z</dcterms:created>
  <dcterms:modified xsi:type="dcterms:W3CDTF">2026-06-20T17:36:07.7940000Z</dcterms:modified>
</coreProperties>
</file>