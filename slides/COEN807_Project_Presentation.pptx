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4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B3B2CF6-BB2E-47F5-9EB6-B82C3B6DE306}"/>
              </a:ext>
            </a:extLst>
          </p:cNvPr>
          <p:cNvSpPr>
            <a:spLocks noGrp="1"/>
          </p:cNvSpPr>
          <p:nvPr/>
        </p:nvSpPr>
        <p:spPr>
          <a:xfrm>
            <a:off x="742950" y="685800"/>
            <a:ext cx="571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9BE3B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9BE3B6"/>
                </a:solidFill>
                <a:latin typeface="Aptos"/>
                <a:ea typeface="Aptos"/>
                <a:cs typeface="Aptos"/>
              </a:rPr>
              <a:t>COEN807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AF2F22-B3FF-4525-AD6D-825183ACB4A3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7620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Predicting At-Risk Student Academic Performance Using Machine Learning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C1D889-6D8A-4665-8D66-171B1CFF9542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7429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DE5EE"/>
                </a:solidFill>
                <a:latin typeface="Aptos"/>
                <a:ea typeface="Aptos"/>
                <a:cs typeface="Aptos"/>
              </a:rPr>
              <a:t>A comparative supervised classification project using the UCI Student Performance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DC1051-2C89-455F-88FA-08AE7B28DF6D}"/>
              </a:ext>
            </a:extLst>
          </p:cNvPr>
          <p:cNvSpPr>
            <a:spLocks noGrp="1"/>
          </p:cNvSpPr>
          <p:nvPr/>
        </p:nvSpPr>
        <p:spPr>
          <a:xfrm>
            <a:off x="8286750" y="1466850"/>
            <a:ext cx="2857500" cy="196215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F032-C2AD-4556-958D-4537353444D1}"/>
              </a:ext>
            </a:extLst>
          </p:cNvPr>
          <p:cNvSpPr>
            <a:spLocks noGrp="1"/>
          </p:cNvSpPr>
          <p:nvPr/>
        </p:nvSpPr>
        <p:spPr>
          <a:xfrm>
            <a:off x="8286750" y="1466850"/>
            <a:ext cx="76200" cy="1962150"/>
          </a:xfrm>
          <a:prstGeom prst="rect">
            <a:avLst/>
          </a:prstGeom>
          <a:solidFill>
            <a:srgbClr val="9BE3B6"/>
          </a:solidFill>
          <a:ln w="0">
            <a:solidFill>
              <a:srgbClr val="9BE3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BABEA-1766-4506-BE63-382EE80A7F7A}"/>
              </a:ext>
            </a:extLst>
          </p:cNvPr>
          <p:cNvSpPr>
            <a:spLocks noGrp="1"/>
          </p:cNvSpPr>
          <p:nvPr/>
        </p:nvSpPr>
        <p:spPr>
          <a:xfrm>
            <a:off x="8477250" y="161925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Submitted by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99400-FB9D-4FDA-B13F-8DBB9D011F74}"/>
              </a:ext>
            </a:extLst>
          </p:cNvPr>
          <p:cNvSpPr>
            <a:spLocks noGrp="1"/>
          </p:cNvSpPr>
          <p:nvPr/>
        </p:nvSpPr>
        <p:spPr>
          <a:xfrm>
            <a:off x="8477250" y="2019300"/>
            <a:ext cx="251460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Musbahu Tijjani</a:t>
            </a:r>
          </a:p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P25EGCP8009</a:t>
            </a:r>
          </a:p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Course: COEN807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3103AA-3862-4597-8F5A-8BD0B064B362}"/>
              </a:ext>
            </a:extLst>
          </p:cNvPr>
          <p:cNvSpPr>
            <a:spLocks noGrp="1"/>
          </p:cNvSpPr>
          <p:nvPr/>
        </p:nvSpPr>
        <p:spPr>
          <a:xfrm>
            <a:off x="762000" y="5810250"/>
            <a:ext cx="819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DDE5EE"/>
                </a:solidFill>
                <a:latin typeface="Aptos"/>
                <a:ea typeface="Aptos"/>
                <a:cs typeface="Aptos"/>
              </a:rPr>
              <a:t>GitHub: https://github.com/MusbahuTijjani/COEN807_Student_Performance_ML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4CFF50-A7DC-4892-B327-BC25E98E54D1}"/>
              </a:ext>
            </a:extLst>
          </p:cNvPr>
          <p:cNvSpPr>
            <a:spLocks noGrp="1"/>
          </p:cNvSpPr>
          <p:nvPr/>
        </p:nvSpPr>
        <p:spPr>
          <a:xfrm>
            <a:off x="9810750" y="58102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DE5EE"/>
                </a:solidFill>
                <a:latin typeface="Aptos"/>
                <a:ea typeface="Aptos"/>
                <a:cs typeface="Aptos"/>
              </a:rPr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1693581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11DC3F9-DA46-4B0F-92A2-1CC4F2C1EF3E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41C28A-2A91-42D5-BFBB-371240C9F66B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Problem Overview and Objectives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6E5641-3B27-48A9-8C01-3FD96859ADC6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3333750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1C98BE-048B-4114-981C-BE6C849454ED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76200" cy="2952750"/>
          </a:xfrm>
          <a:prstGeom prst="rect">
            <a:avLst/>
          </a:prstGeom>
          <a:solidFill>
            <a:srgbClr val="B23A48"/>
          </a:solidFill>
          <a:ln w="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FFD439-9C15-4EE4-94AF-353AA144057A}"/>
              </a:ext>
            </a:extLst>
          </p:cNvPr>
          <p:cNvSpPr>
            <a:spLocks noGrp="1"/>
          </p:cNvSpPr>
          <p:nvPr/>
        </p:nvSpPr>
        <p:spPr>
          <a:xfrm>
            <a:off x="857250" y="177165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0CD3E3-2D82-457E-A76F-B4C2535A8CB6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29908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Identify students likely to fail final course performance so support can be offered before final outcomes.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851109-4E28-40AF-8D70-821F17402BFD}"/>
              </a:ext>
            </a:extLst>
          </p:cNvPr>
          <p:cNvSpPr>
            <a:spLocks noGrp="1"/>
          </p:cNvSpPr>
          <p:nvPr/>
        </p:nvSpPr>
        <p:spPr>
          <a:xfrm>
            <a:off x="4429125" y="1619250"/>
            <a:ext cx="3333750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BFD9E7-EEF4-4340-980A-20F1264B6E6E}"/>
              </a:ext>
            </a:extLst>
          </p:cNvPr>
          <p:cNvSpPr>
            <a:spLocks noGrp="1"/>
          </p:cNvSpPr>
          <p:nvPr/>
        </p:nvSpPr>
        <p:spPr>
          <a:xfrm>
            <a:off x="4429125" y="1619250"/>
            <a:ext cx="76200" cy="2952750"/>
          </a:xfrm>
          <a:prstGeom prst="rect">
            <a:avLst/>
          </a:prstGeom>
          <a:solidFill>
            <a:srgbClr val="0E8F5A"/>
          </a:solidFill>
          <a:ln w="0">
            <a:solidFill>
              <a:srgbClr val="0E8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EF58FE-B86E-4F08-A1FC-9479251110AE}"/>
              </a:ext>
            </a:extLst>
          </p:cNvPr>
          <p:cNvSpPr>
            <a:spLocks noGrp="1"/>
          </p:cNvSpPr>
          <p:nvPr/>
        </p:nvSpPr>
        <p:spPr>
          <a:xfrm>
            <a:off x="4619625" y="177165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919527-C007-4175-B6AD-62BD2BA3D5EB}"/>
              </a:ext>
            </a:extLst>
          </p:cNvPr>
          <p:cNvSpPr>
            <a:spLocks noGrp="1"/>
          </p:cNvSpPr>
          <p:nvPr/>
        </p:nvSpPr>
        <p:spPr>
          <a:xfrm>
            <a:off x="4619625" y="2171700"/>
            <a:ext cx="29908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and compare supervised ML models that predict At_Risk status from student, family, school, and behavioural data.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1DFE3C9-19C6-46D2-902B-999E021B4FBD}"/>
              </a:ext>
            </a:extLst>
          </p:cNvPr>
          <p:cNvSpPr>
            <a:spLocks noGrp="1"/>
          </p:cNvSpPr>
          <p:nvPr/>
        </p:nvSpPr>
        <p:spPr>
          <a:xfrm>
            <a:off x="8191500" y="1619250"/>
            <a:ext cx="3333750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AE7E60-F4EB-47C8-9234-C2AB7AD06378}"/>
              </a:ext>
            </a:extLst>
          </p:cNvPr>
          <p:cNvSpPr>
            <a:spLocks noGrp="1"/>
          </p:cNvSpPr>
          <p:nvPr/>
        </p:nvSpPr>
        <p:spPr>
          <a:xfrm>
            <a:off x="8191500" y="1619250"/>
            <a:ext cx="76200" cy="2952750"/>
          </a:xfrm>
          <a:prstGeom prst="rect">
            <a:avLst/>
          </a:prstGeom>
          <a:solidFill>
            <a:srgbClr val="0B1F3A"/>
          </a:solidFill>
          <a:ln w="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F7E959-3DF0-4242-B8B8-4525F91A8488}"/>
              </a:ext>
            </a:extLst>
          </p:cNvPr>
          <p:cNvSpPr>
            <a:spLocks noGrp="1"/>
          </p:cNvSpPr>
          <p:nvPr/>
        </p:nvSpPr>
        <p:spPr>
          <a:xfrm>
            <a:off x="8382000" y="177165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Use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51462-17A7-465D-AE8A-180D6BE96B9D}"/>
              </a:ext>
            </a:extLst>
          </p:cNvPr>
          <p:cNvSpPr>
            <a:spLocks noGrp="1"/>
          </p:cNvSpPr>
          <p:nvPr/>
        </p:nvSpPr>
        <p:spPr>
          <a:xfrm>
            <a:off x="8382000" y="2171700"/>
            <a:ext cx="29908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predictions for academic support, tutoring, and early intervention, not punishment or exclusion.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10BA86-7F2C-4D53-AC44-7209779E4A1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93E05-24A7-4B2F-9A36-A9E856CA89C8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B11FDC-81CC-4B82-8C2A-8B9C979394B0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508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8F77A1-5495-4647-AF7F-2D24C14B611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583D7D-0B02-4F46-A67E-19B5A1352914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Dataset and Target 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611309-6CD1-4D2B-8180-5B3C88166CD9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5334000" cy="342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28600" indent="-228600" algn="l">
              <a:buFont typeface="Arial" panose="020B0604020202020204" pitchFamily="34" charset="0"/>
              <a:buChar char="•"/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Source: UCI Machine Learning Repository, Student Performance dataset.</a:t>
            </a:r>
            <a:endParaRPr lang="en-US" sz="157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Selected file: Portuguese language course subset, student-por.csv.</a:t>
            </a:r>
            <a:endParaRPr lang="en-US" sz="157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Records: 649 students with demographic, school, family, behavioural, and grade variables.</a:t>
            </a:r>
            <a:endParaRPr lang="en-US" sz="157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Target: At_Risk = 1 when final grade G3 is below 10 out of 20.</a:t>
            </a:r>
            <a:endParaRPr lang="en-US" sz="157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Class distribution: 100 at-risk and 549 not-at-risk students.</a:t>
            </a:r>
            <a:endParaRPr lang="en-US" sz="157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0" y="1555750"/>
            <a:ext cx="4476750" cy="2984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3B47FA-264C-4A43-B9EC-076C03B2BCB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6C6F4-D9C6-4204-95D8-F6F3B0C3C45E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23950E-7D38-4BE1-A2E7-AE32F6FF5045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76748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293D424-03E0-498C-A8D9-8D5D3760097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C18BCD-9376-44E0-9EAD-A6ACA3258E0F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End-to-End Methodology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2A6A89E-9221-4907-B582-13BA1F054D5D}"/>
              </a:ext>
            </a:extLst>
          </p:cNvPr>
          <p:cNvSpPr>
            <a:spLocks noGrp="1"/>
          </p:cNvSpPr>
          <p:nvPr/>
        </p:nvSpPr>
        <p:spPr>
          <a:xfrm>
            <a:off x="666750" y="2238375"/>
            <a:ext cx="1809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994914-2A9B-44B3-BD74-C04429B5CADE}"/>
              </a:ext>
            </a:extLst>
          </p:cNvPr>
          <p:cNvSpPr>
            <a:spLocks noGrp="1"/>
          </p:cNvSpPr>
          <p:nvPr/>
        </p:nvSpPr>
        <p:spPr>
          <a:xfrm>
            <a:off x="838200" y="238125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93F190-4621-4B69-9E98-5C69EEAF2329}"/>
              </a:ext>
            </a:extLst>
          </p:cNvPr>
          <p:cNvSpPr>
            <a:spLocks noGrp="1"/>
          </p:cNvSpPr>
          <p:nvPr/>
        </p:nvSpPr>
        <p:spPr>
          <a:xfrm>
            <a:off x="838200" y="3000375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Acquire public dataset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A424F4-B036-4783-A6A2-F8330879C45B}"/>
              </a:ext>
            </a:extLst>
          </p:cNvPr>
          <p:cNvSpPr>
            <a:spLocks noGrp="1"/>
          </p:cNvSpPr>
          <p:nvPr/>
        </p:nvSpPr>
        <p:spPr>
          <a:xfrm>
            <a:off x="2619375" y="2714625"/>
            <a:ext cx="333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CC5CB1-B657-40CC-9AB4-CBA4564AA3AF}"/>
              </a:ext>
            </a:extLst>
          </p:cNvPr>
          <p:cNvSpPr>
            <a:spLocks noGrp="1"/>
          </p:cNvSpPr>
          <p:nvPr/>
        </p:nvSpPr>
        <p:spPr>
          <a:xfrm>
            <a:off x="2857500" y="2238375"/>
            <a:ext cx="1809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0DB695-6158-436D-9F8A-1969CCA9A577}"/>
              </a:ext>
            </a:extLst>
          </p:cNvPr>
          <p:cNvSpPr>
            <a:spLocks noGrp="1"/>
          </p:cNvSpPr>
          <p:nvPr/>
        </p:nvSpPr>
        <p:spPr>
          <a:xfrm>
            <a:off x="3028950" y="238125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B657F0-C7C3-4021-888E-12E2542CC7D5}"/>
              </a:ext>
            </a:extLst>
          </p:cNvPr>
          <p:cNvSpPr>
            <a:spLocks noGrp="1"/>
          </p:cNvSpPr>
          <p:nvPr/>
        </p:nvSpPr>
        <p:spPr>
          <a:xfrm>
            <a:off x="3028950" y="3000375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Engineer At_Risk target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AA3594-BABF-42B3-8590-0096D60012C9}"/>
              </a:ext>
            </a:extLst>
          </p:cNvPr>
          <p:cNvSpPr>
            <a:spLocks noGrp="1"/>
          </p:cNvSpPr>
          <p:nvPr/>
        </p:nvSpPr>
        <p:spPr>
          <a:xfrm>
            <a:off x="4810125" y="2714625"/>
            <a:ext cx="333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64101C-BE59-4B15-AC9C-031FD6514271}"/>
              </a:ext>
            </a:extLst>
          </p:cNvPr>
          <p:cNvSpPr>
            <a:spLocks noGrp="1"/>
          </p:cNvSpPr>
          <p:nvPr/>
        </p:nvSpPr>
        <p:spPr>
          <a:xfrm>
            <a:off x="5048250" y="2238375"/>
            <a:ext cx="1809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6E0810-D178-43D9-81D1-FB50E4E980C6}"/>
              </a:ext>
            </a:extLst>
          </p:cNvPr>
          <p:cNvSpPr>
            <a:spLocks noGrp="1"/>
          </p:cNvSpPr>
          <p:nvPr/>
        </p:nvSpPr>
        <p:spPr>
          <a:xfrm>
            <a:off x="5219700" y="238125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52D4F1-6B8E-4F9E-8335-1629E9FBE62C}"/>
              </a:ext>
            </a:extLst>
          </p:cNvPr>
          <p:cNvSpPr>
            <a:spLocks noGrp="1"/>
          </p:cNvSpPr>
          <p:nvPr/>
        </p:nvSpPr>
        <p:spPr>
          <a:xfrm>
            <a:off x="5219700" y="3000375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Preprocess features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CE828C-DDFE-4F62-AE95-DD73CED216F6}"/>
              </a:ext>
            </a:extLst>
          </p:cNvPr>
          <p:cNvSpPr>
            <a:spLocks noGrp="1"/>
          </p:cNvSpPr>
          <p:nvPr/>
        </p:nvSpPr>
        <p:spPr>
          <a:xfrm>
            <a:off x="7000875" y="2714625"/>
            <a:ext cx="333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C176848-3FCD-4244-96B0-D6828BA6B8A0}"/>
              </a:ext>
            </a:extLst>
          </p:cNvPr>
          <p:cNvSpPr>
            <a:spLocks noGrp="1"/>
          </p:cNvSpPr>
          <p:nvPr/>
        </p:nvSpPr>
        <p:spPr>
          <a:xfrm>
            <a:off x="7239000" y="2238375"/>
            <a:ext cx="1809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3F02F6-75BB-4618-A7B7-70D243AB942F}"/>
              </a:ext>
            </a:extLst>
          </p:cNvPr>
          <p:cNvSpPr>
            <a:spLocks noGrp="1"/>
          </p:cNvSpPr>
          <p:nvPr/>
        </p:nvSpPr>
        <p:spPr>
          <a:xfrm>
            <a:off x="7410450" y="238125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88B5F-E302-4BB2-832A-61B8E51E8044}"/>
              </a:ext>
            </a:extLst>
          </p:cNvPr>
          <p:cNvSpPr>
            <a:spLocks noGrp="1"/>
          </p:cNvSpPr>
          <p:nvPr/>
        </p:nvSpPr>
        <p:spPr>
          <a:xfrm>
            <a:off x="7410450" y="3000375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Train and tune models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F6CC3F-EC28-4524-A104-9207AD82C4D4}"/>
              </a:ext>
            </a:extLst>
          </p:cNvPr>
          <p:cNvSpPr>
            <a:spLocks noGrp="1"/>
          </p:cNvSpPr>
          <p:nvPr/>
        </p:nvSpPr>
        <p:spPr>
          <a:xfrm>
            <a:off x="9191625" y="2714625"/>
            <a:ext cx="333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A09E4C4-93F1-4EA7-8418-1E216BF6C2C3}"/>
              </a:ext>
            </a:extLst>
          </p:cNvPr>
          <p:cNvSpPr>
            <a:spLocks noGrp="1"/>
          </p:cNvSpPr>
          <p:nvPr/>
        </p:nvSpPr>
        <p:spPr>
          <a:xfrm>
            <a:off x="9429750" y="2238375"/>
            <a:ext cx="1809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33C5FA6-D387-46F9-A967-D11D4516EAE4}"/>
              </a:ext>
            </a:extLst>
          </p:cNvPr>
          <p:cNvSpPr>
            <a:spLocks noGrp="1"/>
          </p:cNvSpPr>
          <p:nvPr/>
        </p:nvSpPr>
        <p:spPr>
          <a:xfrm>
            <a:off x="9601200" y="238125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999B84-66B0-4AFC-A634-BA423410AA58}"/>
              </a:ext>
            </a:extLst>
          </p:cNvPr>
          <p:cNvSpPr>
            <a:spLocks noGrp="1"/>
          </p:cNvSpPr>
          <p:nvPr/>
        </p:nvSpPr>
        <p:spPr>
          <a:xfrm>
            <a:off x="9601200" y="3000375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Evaluate and interpret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93621B-DEF7-4645-96C7-DF00FF7E423E}"/>
              </a:ext>
            </a:extLst>
          </p:cNvPr>
          <p:cNvSpPr>
            <a:spLocks noGrp="1"/>
          </p:cNvSpPr>
          <p:nvPr/>
        </p:nvSpPr>
        <p:spPr>
          <a:xfrm>
            <a:off x="1238250" y="4476750"/>
            <a:ext cx="952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Implementation used scikit-learn pipelines so preprocessing and model fitting remain reproducible.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5D2DB3-3BA0-4570-B135-995DD4FF9E0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CBA4AC-6C31-4112-88CA-40E45B7DDC22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E062DC-4038-4650-A67C-E35BD0BF70D9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05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6970BF3-1F81-4970-8DE9-A5AC8CB4937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1B2959-20C4-4114-A569-7690753E7167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Preprocessing and Feature Engineering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ACF3C9-89B1-491B-BFDD-F38195B97A3C}"/>
              </a:ext>
            </a:extLst>
          </p:cNvPr>
          <p:cNvSpPr>
            <a:spLocks noGrp="1"/>
          </p:cNvSpPr>
          <p:nvPr/>
        </p:nvSpPr>
        <p:spPr>
          <a:xfrm>
            <a:off x="723900" y="1600200"/>
            <a:ext cx="31432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2E2CBE-011B-4C0C-A2D6-EFDAD60D9854}"/>
              </a:ext>
            </a:extLst>
          </p:cNvPr>
          <p:cNvSpPr>
            <a:spLocks noGrp="1"/>
          </p:cNvSpPr>
          <p:nvPr/>
        </p:nvSpPr>
        <p:spPr>
          <a:xfrm>
            <a:off x="723900" y="1600200"/>
            <a:ext cx="76200" cy="3048000"/>
          </a:xfrm>
          <a:prstGeom prst="rect">
            <a:avLst/>
          </a:prstGeom>
          <a:solidFill>
            <a:srgbClr val="B23A48"/>
          </a:solidFill>
          <a:ln w="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989B98-AEAA-4150-86F7-3C674E7BB3C1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Target Engineering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AFD151-ABAF-449F-8D33-66FB33AC05C8}"/>
              </a:ext>
            </a:extLst>
          </p:cNvPr>
          <p:cNvSpPr>
            <a:spLocks noGrp="1"/>
          </p:cNvSpPr>
          <p:nvPr/>
        </p:nvSpPr>
        <p:spPr>
          <a:xfrm>
            <a:off x="914400" y="2152650"/>
            <a:ext cx="28003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At_Risk = 1 if G3 &lt; 10.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At_Risk = 0 otherwise.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turns final grade prediction into a support-focused classification task.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814993-A340-4A9A-9753-447FD1E7EF8C}"/>
              </a:ext>
            </a:extLst>
          </p:cNvPr>
          <p:cNvSpPr>
            <a:spLocks noGrp="1"/>
          </p:cNvSpPr>
          <p:nvPr/>
        </p:nvSpPr>
        <p:spPr>
          <a:xfrm>
            <a:off x="4524375" y="1600200"/>
            <a:ext cx="31432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10E4A8-F0CB-44EA-97D3-63B9C23B68B1}"/>
              </a:ext>
            </a:extLst>
          </p:cNvPr>
          <p:cNvSpPr>
            <a:spLocks noGrp="1"/>
          </p:cNvSpPr>
          <p:nvPr/>
        </p:nvSpPr>
        <p:spPr>
          <a:xfrm>
            <a:off x="4524375" y="1600200"/>
            <a:ext cx="76200" cy="3048000"/>
          </a:xfrm>
          <a:prstGeom prst="rect">
            <a:avLst/>
          </a:prstGeom>
          <a:solidFill>
            <a:srgbClr val="0E8F5A"/>
          </a:solidFill>
          <a:ln w="0">
            <a:solidFill>
              <a:srgbClr val="0E8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71ADE3-922F-48BE-9CDC-654801FAE8B3}"/>
              </a:ext>
            </a:extLst>
          </p:cNvPr>
          <p:cNvSpPr>
            <a:spLocks noGrp="1"/>
          </p:cNvSpPr>
          <p:nvPr/>
        </p:nvSpPr>
        <p:spPr>
          <a:xfrm>
            <a:off x="4714875" y="17526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Feature 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8B2A0A-AB80-49EB-8425-4368E0853EF4}"/>
              </a:ext>
            </a:extLst>
          </p:cNvPr>
          <p:cNvSpPr>
            <a:spLocks noGrp="1"/>
          </p:cNvSpPr>
          <p:nvPr/>
        </p:nvSpPr>
        <p:spPr>
          <a:xfrm>
            <a:off x="4714875" y="2152650"/>
            <a:ext cx="28003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Categorical variables: one-hot encoding.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Numeric variables: median imputation and standardisation.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Train-test split: stratified 80/20.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0A9E9CA-674F-4CBE-85EF-9259F73BBFEF}"/>
              </a:ext>
            </a:extLst>
          </p:cNvPr>
          <p:cNvSpPr>
            <a:spLocks noGrp="1"/>
          </p:cNvSpPr>
          <p:nvPr/>
        </p:nvSpPr>
        <p:spPr>
          <a:xfrm>
            <a:off x="8334375" y="1600200"/>
            <a:ext cx="31432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89A1CD-B8B4-42E9-8D79-EB47D53B614C}"/>
              </a:ext>
            </a:extLst>
          </p:cNvPr>
          <p:cNvSpPr>
            <a:spLocks noGrp="1"/>
          </p:cNvSpPr>
          <p:nvPr/>
        </p:nvSpPr>
        <p:spPr>
          <a:xfrm>
            <a:off x="8334375" y="1600200"/>
            <a:ext cx="76200" cy="3048000"/>
          </a:xfrm>
          <a:prstGeom prst="rect">
            <a:avLst/>
          </a:prstGeom>
          <a:solidFill>
            <a:srgbClr val="0B1F3A"/>
          </a:solidFill>
          <a:ln w="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E324B1-15B4-4C54-BD75-99028CCDCDBF}"/>
              </a:ext>
            </a:extLst>
          </p:cNvPr>
          <p:cNvSpPr>
            <a:spLocks noGrp="1"/>
          </p:cNvSpPr>
          <p:nvPr/>
        </p:nvSpPr>
        <p:spPr>
          <a:xfrm>
            <a:off x="8524875" y="17526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Two Experiments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A7A48E-BC57-4D80-B9A7-09FE6A61D695}"/>
              </a:ext>
            </a:extLst>
          </p:cNvPr>
          <p:cNvSpPr>
            <a:spLocks noGrp="1"/>
          </p:cNvSpPr>
          <p:nvPr/>
        </p:nvSpPr>
        <p:spPr>
          <a:xfrm>
            <a:off x="8524875" y="2152650"/>
            <a:ext cx="28003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Early-warning: excludes G1 and G2.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Performance-aware: includes G1 and G2.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separates early usefulness from predictive strength.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381263-3DEB-40EB-BE39-2376B75B33F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EF28AE-06BE-4EF5-A7FD-DD0ACF88834C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2673B5-6D5B-4EFB-8732-614D1DF8C541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4680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7560F15-EC10-4CBA-AD01-BCA51D3BF71D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EAFB63-BF04-445E-8E7B-469CAFECAA9C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Models Compared and Tuning Design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820A9E-3405-4B06-A41D-EABFD002D677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9525000" cy="342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Dummy Majority baseline checks whether accuracy is misleading.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Logistic Regression gives an interpretable linear baseline.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Decision Tree gives rule-based nonlinear structure.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Random Forest and Gradient Boosting test ensemble tree performance.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Support Vector Machine tests a margin-based classifier.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GridSearchCV with five-fold stratified cross-validation tuned model hyperparameters.</a:t>
            </a:r>
            <a:endParaRPr lang="en-US" sz="165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9684FC-9052-453D-903C-75590A67C031}"/>
              </a:ext>
            </a:extLst>
          </p:cNvPr>
          <p:cNvSpPr>
            <a:spLocks noGrp="1"/>
          </p:cNvSpPr>
          <p:nvPr/>
        </p:nvSpPr>
        <p:spPr>
          <a:xfrm>
            <a:off x="1428750" y="5000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F2941C-005D-4FE0-9ABC-D96FE4536C6F}"/>
              </a:ext>
            </a:extLst>
          </p:cNvPr>
          <p:cNvSpPr>
            <a:spLocks noGrp="1"/>
          </p:cNvSpPr>
          <p:nvPr/>
        </p:nvSpPr>
        <p:spPr>
          <a:xfrm>
            <a:off x="1562100" y="5210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4C8E0F-8FE1-4937-85C0-521EE815DAC1}"/>
              </a:ext>
            </a:extLst>
          </p:cNvPr>
          <p:cNvSpPr>
            <a:spLocks noGrp="1"/>
          </p:cNvSpPr>
          <p:nvPr/>
        </p:nvSpPr>
        <p:spPr>
          <a:xfrm>
            <a:off x="1562100" y="5648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Models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65A100-760A-4136-A4F0-E412ADE7DA3B}"/>
              </a:ext>
            </a:extLst>
          </p:cNvPr>
          <p:cNvSpPr>
            <a:spLocks noGrp="1"/>
          </p:cNvSpPr>
          <p:nvPr/>
        </p:nvSpPr>
        <p:spPr>
          <a:xfrm>
            <a:off x="3667125" y="5000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C0332D-FB58-44E9-8D67-C21B88762144}"/>
              </a:ext>
            </a:extLst>
          </p:cNvPr>
          <p:cNvSpPr>
            <a:spLocks noGrp="1"/>
          </p:cNvSpPr>
          <p:nvPr/>
        </p:nvSpPr>
        <p:spPr>
          <a:xfrm>
            <a:off x="3800475" y="5210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03BE7A-C2BE-404E-9A91-ED19E9057AA3}"/>
              </a:ext>
            </a:extLst>
          </p:cNvPr>
          <p:cNvSpPr>
            <a:spLocks noGrp="1"/>
          </p:cNvSpPr>
          <p:nvPr/>
        </p:nvSpPr>
        <p:spPr>
          <a:xfrm>
            <a:off x="3800475" y="5648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CV folds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9209BB-5DEB-4CEB-BCFC-3AC97B013DD5}"/>
              </a:ext>
            </a:extLst>
          </p:cNvPr>
          <p:cNvSpPr>
            <a:spLocks noGrp="1"/>
          </p:cNvSpPr>
          <p:nvPr/>
        </p:nvSpPr>
        <p:spPr>
          <a:xfrm>
            <a:off x="5905500" y="5000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B9034F-EE5A-4755-A831-C667992042BE}"/>
              </a:ext>
            </a:extLst>
          </p:cNvPr>
          <p:cNvSpPr>
            <a:spLocks noGrp="1"/>
          </p:cNvSpPr>
          <p:nvPr/>
        </p:nvSpPr>
        <p:spPr>
          <a:xfrm>
            <a:off x="6038850" y="5210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B4E44-EC10-4DCC-BE3F-B3CAFA7EA5D5}"/>
              </a:ext>
            </a:extLst>
          </p:cNvPr>
          <p:cNvSpPr>
            <a:spLocks noGrp="1"/>
          </p:cNvSpPr>
          <p:nvPr/>
        </p:nvSpPr>
        <p:spPr>
          <a:xfrm>
            <a:off x="6038850" y="5648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Test split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51893E2-B68A-4DE8-9F48-13475F80D814}"/>
              </a:ext>
            </a:extLst>
          </p:cNvPr>
          <p:cNvSpPr>
            <a:spLocks noGrp="1"/>
          </p:cNvSpPr>
          <p:nvPr/>
        </p:nvSpPr>
        <p:spPr>
          <a:xfrm>
            <a:off x="8143875" y="5000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F56F63-EBE0-43B1-9E7B-02A20DF69705}"/>
              </a:ext>
            </a:extLst>
          </p:cNvPr>
          <p:cNvSpPr>
            <a:spLocks noGrp="1"/>
          </p:cNvSpPr>
          <p:nvPr/>
        </p:nvSpPr>
        <p:spPr>
          <a:xfrm>
            <a:off x="8277225" y="5210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159DA-4118-44ED-937C-201488DCEB77}"/>
              </a:ext>
            </a:extLst>
          </p:cNvPr>
          <p:cNvSpPr>
            <a:spLocks noGrp="1"/>
          </p:cNvSpPr>
          <p:nvPr/>
        </p:nvSpPr>
        <p:spPr>
          <a:xfrm>
            <a:off x="8277225" y="5648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Primary metric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D1DB1DB-D26F-4C31-94BB-63E1DEDD471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F70B06-E122-4BB3-83D1-97975A1677B7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A44673-8653-457F-AB53-78C4BB307F42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5106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2662E64-A70C-4167-8CB2-1131070D0BF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F2EFC1-6731-4D92-A7A7-D48F521417C9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Experimental Setup and Metrics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E40844-C348-4A82-850A-3975796CBA70}"/>
              </a:ext>
            </a:extLst>
          </p:cNvPr>
          <p:cNvSpPr>
            <a:spLocks noGrp="1"/>
          </p:cNvSpPr>
          <p:nvPr/>
        </p:nvSpPr>
        <p:spPr>
          <a:xfrm>
            <a:off x="742950" y="152400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A77282-C151-4FE4-B49D-2A787B1CDAC2}"/>
              </a:ext>
            </a:extLst>
          </p:cNvPr>
          <p:cNvSpPr>
            <a:spLocks noGrp="1"/>
          </p:cNvSpPr>
          <p:nvPr/>
        </p:nvSpPr>
        <p:spPr>
          <a:xfrm>
            <a:off x="742950" y="1524000"/>
            <a:ext cx="76200" cy="3143250"/>
          </a:xfrm>
          <a:prstGeom prst="rect">
            <a:avLst/>
          </a:prstGeom>
          <a:solidFill>
            <a:srgbClr val="B23A48"/>
          </a:solidFill>
          <a:ln w="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5514CD-5710-4501-8FF3-D387128DA46A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lang="en-US" sz="13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Not Accuracy Alone?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12A37A-71AB-4416-88D1-8912D2121692}"/>
              </a:ext>
            </a:extLst>
          </p:cNvPr>
          <p:cNvSpPr>
            <a:spLocks noGrp="1"/>
          </p:cNvSpPr>
          <p:nvPr/>
        </p:nvSpPr>
        <p:spPr>
          <a:xfrm>
            <a:off x="933450" y="2076450"/>
            <a:ext cx="28956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majority class is not-at-risk. A model can look accurate while detecting no at-risk students.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EDB9ABC-3494-4D73-AB4F-337BEF55AC0E}"/>
              </a:ext>
            </a:extLst>
          </p:cNvPr>
          <p:cNvSpPr>
            <a:spLocks noGrp="1"/>
          </p:cNvSpPr>
          <p:nvPr/>
        </p:nvSpPr>
        <p:spPr>
          <a:xfrm>
            <a:off x="4476750" y="152400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F7C635-07B6-4D30-AC51-674F48641F3A}"/>
              </a:ext>
            </a:extLst>
          </p:cNvPr>
          <p:cNvSpPr>
            <a:spLocks noGrp="1"/>
          </p:cNvSpPr>
          <p:nvPr/>
        </p:nvSpPr>
        <p:spPr>
          <a:xfrm>
            <a:off x="4476750" y="1524000"/>
            <a:ext cx="76200" cy="3143250"/>
          </a:xfrm>
          <a:prstGeom prst="rect">
            <a:avLst/>
          </a:prstGeom>
          <a:solidFill>
            <a:srgbClr val="0E8F5A"/>
          </a:solidFill>
          <a:ln w="0">
            <a:solidFill>
              <a:srgbClr val="0E8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B213F8-A7A3-4828-915F-32A2AA252ACF}"/>
              </a:ext>
            </a:extLst>
          </p:cNvPr>
          <p:cNvSpPr>
            <a:spLocks noGrp="1"/>
          </p:cNvSpPr>
          <p:nvPr/>
        </p:nvSpPr>
        <p:spPr>
          <a:xfrm>
            <a:off x="4667250" y="16764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lang="en-US" sz="13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Primary Metrics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117FB-BD0D-41E7-B51D-9212F28619F3}"/>
              </a:ext>
            </a:extLst>
          </p:cNvPr>
          <p:cNvSpPr>
            <a:spLocks noGrp="1"/>
          </p:cNvSpPr>
          <p:nvPr/>
        </p:nvSpPr>
        <p:spPr>
          <a:xfrm>
            <a:off x="4667250" y="2076450"/>
            <a:ext cx="28956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At-risk recall: catches students needing support.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At-risk F1: balances recall and precision.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Balanced accuracy and ROC-AUC support comparison.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166DA3-2BC9-4D08-A522-0E511764E815}"/>
              </a:ext>
            </a:extLst>
          </p:cNvPr>
          <p:cNvSpPr>
            <a:spLocks noGrp="1"/>
          </p:cNvSpPr>
          <p:nvPr/>
        </p:nvSpPr>
        <p:spPr>
          <a:xfrm>
            <a:off x="8210550" y="152400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81D4BC-69D8-4EC6-A454-C206D532179D}"/>
              </a:ext>
            </a:extLst>
          </p:cNvPr>
          <p:cNvSpPr>
            <a:spLocks noGrp="1"/>
          </p:cNvSpPr>
          <p:nvPr/>
        </p:nvSpPr>
        <p:spPr>
          <a:xfrm>
            <a:off x="8210550" y="1524000"/>
            <a:ext cx="76200" cy="3143250"/>
          </a:xfrm>
          <a:prstGeom prst="rect">
            <a:avLst/>
          </a:prstGeom>
          <a:solidFill>
            <a:srgbClr val="0B1F3A"/>
          </a:solidFill>
          <a:ln w="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882A69-EE3D-49DE-A7AB-D83A60206592}"/>
              </a:ext>
            </a:extLst>
          </p:cNvPr>
          <p:cNvSpPr>
            <a:spLocks noGrp="1"/>
          </p:cNvSpPr>
          <p:nvPr/>
        </p:nvSpPr>
        <p:spPr>
          <a:xfrm>
            <a:off x="8401050" y="16764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lang="en-US" sz="13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Operational View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000560-AF28-440C-BC50-E82FCC48A0AA}"/>
              </a:ext>
            </a:extLst>
          </p:cNvPr>
          <p:cNvSpPr>
            <a:spLocks noGrp="1"/>
          </p:cNvSpPr>
          <p:nvPr/>
        </p:nvSpPr>
        <p:spPr>
          <a:xfrm>
            <a:off x="8401050" y="2076450"/>
            <a:ext cx="28956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False negatives mean unsupported students.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False positives may still receive harmless academic support.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8D9A66-EF69-4C54-BA44-EFCA8711EB4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E95376-440F-405C-B734-5442AFC5F1DA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1254E1-EAA9-413D-BE2F-0EF4A2803408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03200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39540CD-C142-4DF0-8529-06257DCE008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9602AF-E9C7-450C-9642-441A68BEB08A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Early-Warning Results: Without G1 and G2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595438"/>
            <a:ext cx="5572125" cy="309562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62B73B-0284-4179-BAE7-A864573F5DE2}"/>
              </a:ext>
            </a:extLst>
          </p:cNvPr>
          <p:cNvSpPr>
            <a:spLocks noGrp="1"/>
          </p:cNvSpPr>
          <p:nvPr/>
        </p:nvSpPr>
        <p:spPr>
          <a:xfrm>
            <a:off x="6858000" y="1571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4E161D-C894-4B37-9190-3D4F8A727B0F}"/>
              </a:ext>
            </a:extLst>
          </p:cNvPr>
          <p:cNvSpPr>
            <a:spLocks noGrp="1"/>
          </p:cNvSpPr>
          <p:nvPr/>
        </p:nvSpPr>
        <p:spPr>
          <a:xfrm>
            <a:off x="6991350" y="1781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RF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0B4AA-84FB-4194-9F32-FE86B75CF04E}"/>
              </a:ext>
            </a:extLst>
          </p:cNvPr>
          <p:cNvSpPr>
            <a:spLocks noGrp="1"/>
          </p:cNvSpPr>
          <p:nvPr/>
        </p:nvSpPr>
        <p:spPr>
          <a:xfrm>
            <a:off x="6991350" y="2219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993089-57DD-41CC-94F2-1CA89154B78D}"/>
              </a:ext>
            </a:extLst>
          </p:cNvPr>
          <p:cNvSpPr>
            <a:spLocks noGrp="1"/>
          </p:cNvSpPr>
          <p:nvPr/>
        </p:nvSpPr>
        <p:spPr>
          <a:xfrm>
            <a:off x="8858250" y="1571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25D5AB-F8FB-470D-AB60-C8902D68581E}"/>
              </a:ext>
            </a:extLst>
          </p:cNvPr>
          <p:cNvSpPr>
            <a:spLocks noGrp="1"/>
          </p:cNvSpPr>
          <p:nvPr/>
        </p:nvSpPr>
        <p:spPr>
          <a:xfrm>
            <a:off x="8991600" y="1781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0.800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ADF3A6-A1E6-4C09-A444-8F95640BBAD5}"/>
              </a:ext>
            </a:extLst>
          </p:cNvPr>
          <p:cNvSpPr>
            <a:spLocks noGrp="1"/>
          </p:cNvSpPr>
          <p:nvPr/>
        </p:nvSpPr>
        <p:spPr>
          <a:xfrm>
            <a:off x="8991600" y="2219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B9D57C-9F0D-42D5-ABFC-4CE62D7F2D3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D6E12-4114-41C8-B871-7387DB0C3FD9}"/>
              </a:ext>
            </a:extLst>
          </p:cNvPr>
          <p:cNvSpPr>
            <a:spLocks noGrp="1"/>
          </p:cNvSpPr>
          <p:nvPr/>
        </p:nvSpPr>
        <p:spPr>
          <a:xfrm>
            <a:off x="6991350" y="320992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0.582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5A8B71-B6D5-42B8-8FBF-A898420C49F6}"/>
              </a:ext>
            </a:extLst>
          </p:cNvPr>
          <p:cNvSpPr>
            <a:spLocks noGrp="1"/>
          </p:cNvSpPr>
          <p:nvPr/>
        </p:nvSpPr>
        <p:spPr>
          <a:xfrm>
            <a:off x="6991350" y="364807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900715-70F4-49EA-BC1F-0B4A570CDA75}"/>
              </a:ext>
            </a:extLst>
          </p:cNvPr>
          <p:cNvSpPr>
            <a:spLocks noGrp="1"/>
          </p:cNvSpPr>
          <p:nvPr/>
        </p:nvSpPr>
        <p:spPr>
          <a:xfrm>
            <a:off x="8858250" y="300037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FBB50E-91D7-4A34-B5A7-4C9F16C4CDC5}"/>
              </a:ext>
            </a:extLst>
          </p:cNvPr>
          <p:cNvSpPr>
            <a:spLocks noGrp="1"/>
          </p:cNvSpPr>
          <p:nvPr/>
        </p:nvSpPr>
        <p:spPr>
          <a:xfrm>
            <a:off x="8991600" y="320992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0.822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D0EF17-9B05-40BC-9431-8750F057B7D9}"/>
              </a:ext>
            </a:extLst>
          </p:cNvPr>
          <p:cNvSpPr>
            <a:spLocks noGrp="1"/>
          </p:cNvSpPr>
          <p:nvPr/>
        </p:nvSpPr>
        <p:spPr>
          <a:xfrm>
            <a:off x="8991600" y="364807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447FF9-05AA-44E6-B59C-1BAC9D731398}"/>
              </a:ext>
            </a:extLst>
          </p:cNvPr>
          <p:cNvSpPr>
            <a:spLocks noGrp="1"/>
          </p:cNvSpPr>
          <p:nvPr/>
        </p:nvSpPr>
        <p:spPr>
          <a:xfrm>
            <a:off x="6762750" y="4572000"/>
            <a:ext cx="4381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Interpretation: Random Forest detected 16 of 20 at-risk students in the test set, but it also produced 19 false positives.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B0B0F2-6E5F-4041-AA37-C50E7E0A92F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43BA14-45F0-4AAD-B2C0-57EB064A579F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40A5AD-73EE-4686-841D-42FA0EA20331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6097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C26ADD5-4BE0-4AA9-ADAC-7D7ACDC93288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B2C06A-75A1-4F9D-9D0A-2444720FC70D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4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Performance-Aware Results: With G1 and G2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595438"/>
            <a:ext cx="5572125" cy="309562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754886-E5C5-4B4D-AA1F-2017F8155A28}"/>
              </a:ext>
            </a:extLst>
          </p:cNvPr>
          <p:cNvSpPr>
            <a:spLocks noGrp="1"/>
          </p:cNvSpPr>
          <p:nvPr/>
        </p:nvSpPr>
        <p:spPr>
          <a:xfrm>
            <a:off x="6858000" y="1571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84436D-55AB-4B00-81EA-F7A96E1BB416}"/>
              </a:ext>
            </a:extLst>
          </p:cNvPr>
          <p:cNvSpPr>
            <a:spLocks noGrp="1"/>
          </p:cNvSpPr>
          <p:nvPr/>
        </p:nvSpPr>
        <p:spPr>
          <a:xfrm>
            <a:off x="6991350" y="1781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SVM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3C4395-47DA-48FE-B34D-FDECB835718E}"/>
              </a:ext>
            </a:extLst>
          </p:cNvPr>
          <p:cNvSpPr>
            <a:spLocks noGrp="1"/>
          </p:cNvSpPr>
          <p:nvPr/>
        </p:nvSpPr>
        <p:spPr>
          <a:xfrm>
            <a:off x="6991350" y="2219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418F11-0549-4C7F-A9E6-0B20DB84AAA7}"/>
              </a:ext>
            </a:extLst>
          </p:cNvPr>
          <p:cNvSpPr>
            <a:spLocks noGrp="1"/>
          </p:cNvSpPr>
          <p:nvPr/>
        </p:nvSpPr>
        <p:spPr>
          <a:xfrm>
            <a:off x="8858250" y="15716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296AAD-A27C-48B6-9F42-273DA633DDCC}"/>
              </a:ext>
            </a:extLst>
          </p:cNvPr>
          <p:cNvSpPr>
            <a:spLocks noGrp="1"/>
          </p:cNvSpPr>
          <p:nvPr/>
        </p:nvSpPr>
        <p:spPr>
          <a:xfrm>
            <a:off x="8991600" y="178117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0.908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082303-77DE-4357-9945-0C6494325A64}"/>
              </a:ext>
            </a:extLst>
          </p:cNvPr>
          <p:cNvSpPr>
            <a:spLocks noGrp="1"/>
          </p:cNvSpPr>
          <p:nvPr/>
        </p:nvSpPr>
        <p:spPr>
          <a:xfrm>
            <a:off x="8991600" y="22193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497627-5D4A-4472-A6EA-AA316D259576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2585D-B627-476D-9760-A13024065C60}"/>
              </a:ext>
            </a:extLst>
          </p:cNvPr>
          <p:cNvSpPr>
            <a:spLocks noGrp="1"/>
          </p:cNvSpPr>
          <p:nvPr/>
        </p:nvSpPr>
        <p:spPr>
          <a:xfrm>
            <a:off x="6991350" y="320992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0.850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46A0D8-DDE9-4E89-B416-A3A23B0213AE}"/>
              </a:ext>
            </a:extLst>
          </p:cNvPr>
          <p:cNvSpPr>
            <a:spLocks noGrp="1"/>
          </p:cNvSpPr>
          <p:nvPr/>
        </p:nvSpPr>
        <p:spPr>
          <a:xfrm>
            <a:off x="6991350" y="364807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596294-FB90-445C-9A7B-0946832F3CD6}"/>
              </a:ext>
            </a:extLst>
          </p:cNvPr>
          <p:cNvSpPr>
            <a:spLocks noGrp="1"/>
          </p:cNvSpPr>
          <p:nvPr/>
        </p:nvSpPr>
        <p:spPr>
          <a:xfrm>
            <a:off x="8858250" y="300037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878B05-4BB0-4180-9ABF-DEF6FE508612}"/>
              </a:ext>
            </a:extLst>
          </p:cNvPr>
          <p:cNvSpPr>
            <a:spLocks noGrp="1"/>
          </p:cNvSpPr>
          <p:nvPr/>
        </p:nvSpPr>
        <p:spPr>
          <a:xfrm>
            <a:off x="8991600" y="3209925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0.739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D833A6-E076-4914-AAAE-DAE39CD3B55D}"/>
              </a:ext>
            </a:extLst>
          </p:cNvPr>
          <p:cNvSpPr>
            <a:spLocks noGrp="1"/>
          </p:cNvSpPr>
          <p:nvPr/>
        </p:nvSpPr>
        <p:spPr>
          <a:xfrm>
            <a:off x="8991600" y="364807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DA934C-C43E-4B67-B922-B9EB1A8CEF63}"/>
              </a:ext>
            </a:extLst>
          </p:cNvPr>
          <p:cNvSpPr>
            <a:spLocks noGrp="1"/>
          </p:cNvSpPr>
          <p:nvPr/>
        </p:nvSpPr>
        <p:spPr>
          <a:xfrm>
            <a:off x="6762750" y="4572000"/>
            <a:ext cx="4381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Interpretation: adding prior grades improves prediction; the SVM detected 17 of 20 at-risk students and reduced false positives to 9.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6AEAD7-2B1D-4877-ACC1-829F69B749F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228494-5EE0-4A1D-8481-A4C3649A7D49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CD8168-477D-4D8C-A738-B15D1BED7E7F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27344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D7014BD-3ACA-4D14-91E3-7CEB0AFA24B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2AC92D-3E5A-4D1E-BC45-768037182582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Comparative Findings and Interpretation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76400"/>
            <a:ext cx="3190875" cy="255270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29125" y="1676400"/>
            <a:ext cx="3190875" cy="25527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FA96AB-9853-4648-828D-ECCC4B73C899}"/>
              </a:ext>
            </a:extLst>
          </p:cNvPr>
          <p:cNvSpPr>
            <a:spLocks noGrp="1"/>
          </p:cNvSpPr>
          <p:nvPr/>
        </p:nvSpPr>
        <p:spPr>
          <a:xfrm>
            <a:off x="8048625" y="1571625"/>
            <a:ext cx="31432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3B96A2-F032-40A3-91CF-3EDFC10610FB}"/>
              </a:ext>
            </a:extLst>
          </p:cNvPr>
          <p:cNvSpPr>
            <a:spLocks noGrp="1"/>
          </p:cNvSpPr>
          <p:nvPr/>
        </p:nvSpPr>
        <p:spPr>
          <a:xfrm>
            <a:off x="8048625" y="1571625"/>
            <a:ext cx="76200" cy="2857500"/>
          </a:xfrm>
          <a:prstGeom prst="rect">
            <a:avLst/>
          </a:prstGeom>
          <a:solidFill>
            <a:srgbClr val="0E8F5A"/>
          </a:solidFill>
          <a:ln w="0">
            <a:solidFill>
              <a:srgbClr val="0E8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21B643-A690-46F7-9327-5A2853EF4DB0}"/>
              </a:ext>
            </a:extLst>
          </p:cNvPr>
          <p:cNvSpPr>
            <a:spLocks noGrp="1"/>
          </p:cNvSpPr>
          <p:nvPr/>
        </p:nvSpPr>
        <p:spPr>
          <a:xfrm>
            <a:off x="8239125" y="1724025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Main Finding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F71B11-8C2B-47C8-BAE3-DAB54E0F552B}"/>
              </a:ext>
            </a:extLst>
          </p:cNvPr>
          <p:cNvSpPr>
            <a:spLocks noGrp="1"/>
          </p:cNvSpPr>
          <p:nvPr/>
        </p:nvSpPr>
        <p:spPr>
          <a:xfrm>
            <a:off x="8239125" y="2124075"/>
            <a:ext cx="28003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G1 and G2 strongly improve performance, but the early-warning model is more useful when interventions must begin before later grades are available.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369DD6-65C5-4463-B7C0-C90E309CF381}"/>
              </a:ext>
            </a:extLst>
          </p:cNvPr>
          <p:cNvSpPr>
            <a:spLocks noGrp="1"/>
          </p:cNvSpPr>
          <p:nvPr/>
        </p:nvSpPr>
        <p:spPr>
          <a:xfrm>
            <a:off x="1143000" y="4857750"/>
            <a:ext cx="933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Accuracy baseline warning: Dummy Majority scored 0.846 accuracy but detected 0 at-risk students.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485F62-0FDA-499D-A5DC-27A9D358258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C95934-ACB1-4272-9C6C-D5518C2BD11A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09D51D-95D1-423E-AAC7-99F3F3FAFE0F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09369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4AFF13D-D507-48A9-B01A-D72FC08DE4D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258A1-2239-4BE2-B36D-3AE12E7FB9E1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Limitations, Bias, Ethics </a:t>
            </a:r>
            <a:r>
              <a:rPr lang="en-US"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&amp;</a:t>
            </a: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 Safeguards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CABD74-33B2-450F-8102-965125B63302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A6F5C-96A1-460E-A9CD-5DCE658328E0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76200" cy="3143250"/>
          </a:xfrm>
          <a:prstGeom prst="rect">
            <a:avLst/>
          </a:prstGeom>
          <a:solidFill>
            <a:srgbClr val="0B1F3A"/>
          </a:solidFill>
          <a:ln w="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BAC66A-22CF-4C61-8874-173934EF248F}"/>
              </a:ext>
            </a:extLst>
          </p:cNvPr>
          <p:cNvSpPr>
            <a:spLocks noGrp="1"/>
          </p:cNvSpPr>
          <p:nvPr/>
        </p:nvSpPr>
        <p:spPr>
          <a:xfrm>
            <a:off x="857250" y="167640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Limitations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CED5D6-0B8B-4481-B042-D36929A1FB7D}"/>
              </a:ext>
            </a:extLst>
          </p:cNvPr>
          <p:cNvSpPr>
            <a:spLocks noGrp="1"/>
          </p:cNvSpPr>
          <p:nvPr/>
        </p:nvSpPr>
        <p:spPr>
          <a:xfrm>
            <a:off x="857250" y="2076450"/>
            <a:ext cx="29908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Portuguese secondary school data may not generalise to Nigerian education contexts.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Dataset size is moderate and not all real-world factors are measured.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582384-571B-4506-8C43-9181549FB0B9}"/>
              </a:ext>
            </a:extLst>
          </p:cNvPr>
          <p:cNvSpPr>
            <a:spLocks noGrp="1"/>
          </p:cNvSpPr>
          <p:nvPr/>
        </p:nvSpPr>
        <p:spPr>
          <a:xfrm>
            <a:off x="4429125" y="1524000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BA857C-00D0-4561-9227-A506906D8294}"/>
              </a:ext>
            </a:extLst>
          </p:cNvPr>
          <p:cNvSpPr>
            <a:spLocks noGrp="1"/>
          </p:cNvSpPr>
          <p:nvPr/>
        </p:nvSpPr>
        <p:spPr>
          <a:xfrm>
            <a:off x="4429125" y="1524000"/>
            <a:ext cx="76200" cy="3143250"/>
          </a:xfrm>
          <a:prstGeom prst="rect">
            <a:avLst/>
          </a:prstGeom>
          <a:solidFill>
            <a:srgbClr val="B23A48"/>
          </a:solidFill>
          <a:ln w="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5AB73D-BDB6-4AB3-ADAA-FEB6D9D2D1DA}"/>
              </a:ext>
            </a:extLst>
          </p:cNvPr>
          <p:cNvSpPr>
            <a:spLocks noGrp="1"/>
          </p:cNvSpPr>
          <p:nvPr/>
        </p:nvSpPr>
        <p:spPr>
          <a:xfrm>
            <a:off x="4619625" y="167640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Bias Risks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441346-66A8-4E3A-AF3E-57F2FD5B3214}"/>
              </a:ext>
            </a:extLst>
          </p:cNvPr>
          <p:cNvSpPr>
            <a:spLocks noGrp="1"/>
          </p:cNvSpPr>
          <p:nvPr/>
        </p:nvSpPr>
        <p:spPr>
          <a:xfrm>
            <a:off x="4619625" y="2076450"/>
            <a:ext cx="29908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Address, internet access, parental education and family support may encode socioeconomic inequality.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AAF6B7A-B0F2-4275-BFAE-D7518BE19513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5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493578-9DCB-4DCF-BEA5-0C26A22FE51D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76200" cy="3143250"/>
          </a:xfrm>
          <a:prstGeom prst="rect">
            <a:avLst/>
          </a:prstGeom>
          <a:solidFill>
            <a:srgbClr val="0E8F5A"/>
          </a:solidFill>
          <a:ln w="0">
            <a:solidFill>
              <a:srgbClr val="0E8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53E80D-6D72-4345-B8D4-D3EFBB6484C4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Safeguards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767F2C-F60E-41FE-BF9D-AC8BF026C32A}"/>
              </a:ext>
            </a:extLst>
          </p:cNvPr>
          <p:cNvSpPr>
            <a:spLocks noGrp="1"/>
          </p:cNvSpPr>
          <p:nvPr/>
        </p:nvSpPr>
        <p:spPr>
          <a:xfrm>
            <a:off x="8382000" y="2076450"/>
            <a:ext cx="29908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for academic support only.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Validate locally.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Audit subgroups.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Keep human review and appeal procedures.</a:t>
            </a:r>
            <a:endParaRPr lang="en-US" sz="1200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E78EF0-00CA-4C55-9602-EBF2CCEEF39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5B24DF-05C3-4130-8422-B33806D12377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8208C3-9E76-4815-AC15-A0A4751470F2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5706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72A83F-92C1-4D05-AEB2-FAE65C887A9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CFA09D-8F68-4272-84B7-99DA16C373AC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Reproducibility and Submission Checklist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7EE13A-BC95-49D5-BF34-7335608D63F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981075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28600" indent="-228600" algn="l">
              <a:buFont typeface="Arial" panose="020B0604020202020204" pitchFamily="34" charset="0"/>
              <a:buChar char="•"/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Report PDF and this PowerPoint deck include the GitHub repository link.</a:t>
            </a:r>
            <a:endParaRPr lang="en-US" sz="172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Repository contains source code, dataset/access instructions, outputs, figures, trained models and README.</a:t>
            </a:r>
            <a:endParaRPr lang="en-US" sz="172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 workflow: pip install -r requirements.txt, then python src/train_models.py.</a:t>
            </a:r>
            <a:endParaRPr lang="en-US" sz="172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Drive folder must be set to: Anyone with the link can view.</a:t>
            </a:r>
            <a:endParaRPr lang="en-US" sz="172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  <a:p>
            <a:pPr marL="228600" indent="-228600" algn="l">
              <a:buFont typeface="Arial" panose="020B0604020202020204" pitchFamily="34" charset="0"/>
              <a:buChar char="•"/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Final GitHub repository link is shown below for direct access.</a:t>
            </a:r>
            <a:endParaRPr lang="en-US" sz="1725" b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D19572-7F7A-4AB2-A81B-F5663FE3F994}"/>
              </a:ext>
            </a:extLst>
          </p:cNvPr>
          <p:cNvSpPr>
            <a:spLocks noGrp="1"/>
          </p:cNvSpPr>
          <p:nvPr/>
        </p:nvSpPr>
        <p:spPr>
          <a:xfrm>
            <a:off x="1000125" y="476250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F42870-C599-4337-9FC4-EF1045838D8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AD58BF-4783-475F-8D0F-2D9700E66A84}"/>
              </a:ext>
            </a:extLst>
          </p:cNvPr>
          <p:cNvSpPr>
            <a:spLocks noGrp="1"/>
          </p:cNvSpPr>
          <p:nvPr/>
        </p:nvSpPr>
        <p:spPr>
          <a:xfrm>
            <a:off x="49530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1EE269-1B2A-4D65-8A10-34FF2C735845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840800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1d5ec5a-dbdc-4f25-b86f-7ac7f7ede99f}" enabled="1" method="Privileged" siteId="{9cdc7dd5-9dd6-4fbb-9a68-bcb9021721d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</Words>
  <Application>Microsoft Office PowerPoint</Application>
  <DocSecurity>0</DocSecurity>
  <PresentationFormat>Widescreen</PresentationFormat>
  <Paragraphs>162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MUSBAHU TIJJANI</cp:lastModifiedBy>
  <cp:revision>1</cp:revision>
  <dcterms:created xsi:type="dcterms:W3CDTF">2026-06-15T17:14:56Z</dcterms:created>
  <dcterms:modified xsi:type="dcterms:W3CDTF">2026-06-15T17:42:58Z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ChatGPT:3</vt:lpwstr>
  </property>
  <property fmtid="{D5CDD505-2E9C-101B-9397-08002B2CF9AE}" pid="3" name="ClassificationContentMarkingFooterText">
    <vt:lpwstr>PUBLIC</vt:lpwstr>
  </property>
</Properties>
</file>