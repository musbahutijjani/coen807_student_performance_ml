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1e122c08e3a49a3" /><Relationship Type="http://schemas.openxmlformats.org/officeDocument/2006/relationships/extended-properties" Target="/docProps/app.xml" Id="R7b3d61407e5d439b" /><Relationship Type="http://schemas.openxmlformats.org/officeDocument/2006/relationships/officeDocument" Target="/ppt/presentation.xml" Id="R8cac28435c754d0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1b200582a684a69"/>
  </p:sldMasterIdLst>
  <p:notesMasterIdLst>
    <p:notesMasterId xmlns:r="http://schemas.openxmlformats.org/officeDocument/2006/relationships" r:id="R1c2c82c4201e453a"/>
  </p:notesMasterIdLst>
  <p:sldIdLst>
    <p:sldId xmlns:r="http://schemas.openxmlformats.org/officeDocument/2006/relationships" id="256" r:id="R65b0647ed2014b69"/>
    <p:sldId xmlns:r="http://schemas.openxmlformats.org/officeDocument/2006/relationships" id="257" r:id="R2806f79c1898400a"/>
    <p:sldId xmlns:r="http://schemas.openxmlformats.org/officeDocument/2006/relationships" id="258" r:id="R46da946f6bd64208"/>
    <p:sldId xmlns:r="http://schemas.openxmlformats.org/officeDocument/2006/relationships" id="259" r:id="Raabc5e2d1c9a4319"/>
    <p:sldId xmlns:r="http://schemas.openxmlformats.org/officeDocument/2006/relationships" id="260" r:id="Rbc3b02c625d74142"/>
    <p:sldId xmlns:r="http://schemas.openxmlformats.org/officeDocument/2006/relationships" id="261" r:id="Rd4f29c66dc9644d2"/>
    <p:sldId xmlns:r="http://schemas.openxmlformats.org/officeDocument/2006/relationships" id="262" r:id="Rf08c0ab9b8384866"/>
    <p:sldId xmlns:r="http://schemas.openxmlformats.org/officeDocument/2006/relationships" id="263" r:id="Rc08a156d96aa43d9"/>
    <p:sldId xmlns:r="http://schemas.openxmlformats.org/officeDocument/2006/relationships" id="264" r:id="R5b56f2c2a1fa4137"/>
    <p:sldId xmlns:r="http://schemas.openxmlformats.org/officeDocument/2006/relationships" id="265" r:id="R785dbe5891c74c98"/>
    <p:sldId xmlns:r="http://schemas.openxmlformats.org/officeDocument/2006/relationships" id="266" r:id="Rd7f59d6b46904288"/>
    <p:sldId xmlns:r="http://schemas.openxmlformats.org/officeDocument/2006/relationships" id="267" r:id="Rc6a1afa0897b4640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ad89adefbdb4489" /><Relationship Type="http://schemas.openxmlformats.org/officeDocument/2006/relationships/slideMaster" Target="/ppt/slideMasters/slideMaster1.xml" Id="Rb1b200582a684a69" /><Relationship Type="http://schemas.openxmlformats.org/officeDocument/2006/relationships/notesMaster" Target="/ppt/notesMasters/notesMaster1.xml" Id="R1c2c82c4201e453a" /><Relationship Type="http://schemas.openxmlformats.org/officeDocument/2006/relationships/presProps" Target="/ppt/presProps.xml" Id="R9880ccb594ea4d36" /><Relationship Type="http://schemas.openxmlformats.org/officeDocument/2006/relationships/tableStyles" Target="/ppt/tableStyles.xml" Id="R7fb961bd317b40ce" /><Relationship Type="http://schemas.openxmlformats.org/officeDocument/2006/relationships/slide" Target="/ppt/slides/slide1.xml" Id="R65b0647ed2014b69" /><Relationship Type="http://schemas.openxmlformats.org/officeDocument/2006/relationships/slide" Target="/ppt/slides/slide2.xml" Id="R2806f79c1898400a" /><Relationship Type="http://schemas.openxmlformats.org/officeDocument/2006/relationships/slide" Target="/ppt/slides/slide3.xml" Id="R46da946f6bd64208" /><Relationship Type="http://schemas.openxmlformats.org/officeDocument/2006/relationships/slide" Target="/ppt/slides/slide4.xml" Id="Raabc5e2d1c9a4319" /><Relationship Type="http://schemas.openxmlformats.org/officeDocument/2006/relationships/slide" Target="/ppt/slides/slide5.xml" Id="Rbc3b02c625d74142" /><Relationship Type="http://schemas.openxmlformats.org/officeDocument/2006/relationships/slide" Target="/ppt/slides/slide6.xml" Id="Rd4f29c66dc9644d2" /><Relationship Type="http://schemas.openxmlformats.org/officeDocument/2006/relationships/slide" Target="/ppt/slides/slide7.xml" Id="Rf08c0ab9b8384866" /><Relationship Type="http://schemas.openxmlformats.org/officeDocument/2006/relationships/slide" Target="/ppt/slides/slide8.xml" Id="Rc08a156d96aa43d9" /><Relationship Type="http://schemas.openxmlformats.org/officeDocument/2006/relationships/slide" Target="/ppt/slides/slide9.xml" Id="R5b56f2c2a1fa4137" /><Relationship Type="http://schemas.openxmlformats.org/officeDocument/2006/relationships/slide" Target="/ppt/slides/slide10.xml" Id="R785dbe5891c74c98" /><Relationship Type="http://schemas.openxmlformats.org/officeDocument/2006/relationships/slide" Target="/ppt/slides/slide11.xml" Id="Rd7f59d6b46904288" /><Relationship Type="http://schemas.openxmlformats.org/officeDocument/2006/relationships/slide" Target="/ppt/slides/slide12.xml" Id="Rc6a1afa0897b464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8baa8fe9e584eb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5d45ff2d161469e" /><Relationship Type="http://schemas.openxmlformats.org/officeDocument/2006/relationships/notesMaster" Target="/ppt/notesMasters/notesMaster1.xml" Id="Reb95fc8a4fa543a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4bd85ea3ae44fe9" /><Relationship Type="http://schemas.openxmlformats.org/officeDocument/2006/relationships/notesMaster" Target="/ppt/notesMasters/notesMaster1.xml" Id="R7b37ef8de461406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57eae259e5a4b8b" /><Relationship Type="http://schemas.openxmlformats.org/officeDocument/2006/relationships/notesMaster" Target="/ppt/notesMasters/notesMaster1.xml" Id="Re7fddaf70dd143e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6fdb66c5e094567" /><Relationship Type="http://schemas.openxmlformats.org/officeDocument/2006/relationships/notesMaster" Target="/ppt/notesMasters/notesMaster1.xml" Id="R07d19676f0954e9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7e78be7d98641b7" /><Relationship Type="http://schemas.openxmlformats.org/officeDocument/2006/relationships/notesMaster" Target="/ppt/notesMasters/notesMaster1.xml" Id="R0395a282c0a14cf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d4228d51a6642d9" /><Relationship Type="http://schemas.openxmlformats.org/officeDocument/2006/relationships/notesMaster" Target="/ppt/notesMasters/notesMaster1.xml" Id="R3e3134e6d2c74d4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973ccc3404149c1" /><Relationship Type="http://schemas.openxmlformats.org/officeDocument/2006/relationships/notesMaster" Target="/ppt/notesMasters/notesMaster1.xml" Id="Ree2c199e4b5d4d4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0d2cb622a9e4160" /><Relationship Type="http://schemas.openxmlformats.org/officeDocument/2006/relationships/notesMaster" Target="/ppt/notesMasters/notesMaster1.xml" Id="R0164e3d5847140c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f1264103ed742aa" /><Relationship Type="http://schemas.openxmlformats.org/officeDocument/2006/relationships/notesMaster" Target="/ppt/notesMasters/notesMaster1.xml" Id="Rb19aa0066a2e463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72a067c351464890" /><Relationship Type="http://schemas.openxmlformats.org/officeDocument/2006/relationships/notesMaster" Target="/ppt/notesMasters/notesMaster1.xml" Id="R2cfc77b585434c1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20296240d2cb410e" /><Relationship Type="http://schemas.openxmlformats.org/officeDocument/2006/relationships/notesMaster" Target="/ppt/notesMasters/notesMaster1.xml" Id="Rebbdf28bd4f44a7c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cb352f19074c4f57" /><Relationship Type="http://schemas.openxmlformats.org/officeDocument/2006/relationships/notesMaster" Target="/ppt/notesMasters/notesMaster1.xml" Id="R3073c91b2329427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32a986c6c1c401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dd9c65c1b7f4234" /><Relationship Type="http://schemas.openxmlformats.org/officeDocument/2006/relationships/slideLayout" Target="/ppt/slideLayouts/slideLayout1.xml" Id="R355c6b434f88480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55c6b434f88480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4c8ca2600a48dd" /><Relationship Type="http://schemas.openxmlformats.org/officeDocument/2006/relationships/notesSlide" Target="/ppt/notesSlides/notesSlide1.xml" Id="R945604c606e04a1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193dac10a94cd2" /><Relationship Type="http://schemas.openxmlformats.org/officeDocument/2006/relationships/notesSlide" Target="/ppt/notesSlides/notesSlide2.xml" Id="Re8a09fd9b95542d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8a6235ec61f4b20" /><Relationship Type="http://schemas.openxmlformats.org/officeDocument/2006/relationships/image" Target="/ppt/media/image.png" Id="Rc3b43ba3987e4061" /><Relationship Type="http://schemas.openxmlformats.org/officeDocument/2006/relationships/notesSlide" Target="/ppt/notesSlides/notesSlide3.xml" Id="Rd379ff56c6cc414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1a580469e654746" /><Relationship Type="http://schemas.openxmlformats.org/officeDocument/2006/relationships/notesSlide" Target="/ppt/notesSlides/notesSlide4.xml" Id="Rf50e72d34243441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b9f0d451bce4537" /><Relationship Type="http://schemas.openxmlformats.org/officeDocument/2006/relationships/notesSlide" Target="/ppt/notesSlides/notesSlide5.xml" Id="R2a33e386aa304e6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e37732c38694176" /><Relationship Type="http://schemas.openxmlformats.org/officeDocument/2006/relationships/notesSlide" Target="/ppt/notesSlides/notesSlide6.xml" Id="Rbbea5bb2134f400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d07e7d4bf68406c" /><Relationship Type="http://schemas.openxmlformats.org/officeDocument/2006/relationships/notesSlide" Target="/ppt/notesSlides/notesSlide7.xml" Id="R04f7438fb94a45a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debc3b433704790" /><Relationship Type="http://schemas.openxmlformats.org/officeDocument/2006/relationships/image" Target="/ppt/media/image2.png" Id="R74ee7c3ee76f4683" /><Relationship Type="http://schemas.openxmlformats.org/officeDocument/2006/relationships/notesSlide" Target="/ppt/notesSlides/notesSlide8.xml" Id="R36a5b0707f69435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31702ae90634e61" /><Relationship Type="http://schemas.openxmlformats.org/officeDocument/2006/relationships/image" Target="/ppt/media/image3.png" Id="R1f6a2baac6254267" /><Relationship Type="http://schemas.openxmlformats.org/officeDocument/2006/relationships/notesSlide" Target="/ppt/notesSlides/notesSlide9.xml" Id="R5406cb757741425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531bd3d74074fba" /><Relationship Type="http://schemas.openxmlformats.org/officeDocument/2006/relationships/image" Target="/ppt/media/image4.png" Id="Rbde14dad17fe49de" /><Relationship Type="http://schemas.openxmlformats.org/officeDocument/2006/relationships/image" Target="/ppt/media/image5.png" Id="R2038d2b9f30b4cc0" /><Relationship Type="http://schemas.openxmlformats.org/officeDocument/2006/relationships/notesSlide" Target="/ppt/notesSlides/notesSlide10.xml" Id="R8819c7f4a9bb4fdb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c49e4cea96445e" /><Relationship Type="http://schemas.openxmlformats.org/officeDocument/2006/relationships/notesSlide" Target="/ppt/notesSlides/notesSlide11.xml" Id="Rab1dc6c4a9674bde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35b597ccc5487b" /><Relationship Type="http://schemas.openxmlformats.org/officeDocument/2006/relationships/notesSlide" Target="/ppt/notesSlides/notesSlide12.xml" Id="R1b6491046f214da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F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3959565-324E-43F7-BDF6-973CC291C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685800"/>
            <a:ext cx="5715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9BE3B6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9BE3B6"/>
                </a:solidFill>
                <a:latin typeface="Aptos"/>
                <a:ea typeface="Aptos"/>
                <a:cs typeface="Aptos"/>
              </a:rPr>
              <a:t>COEN807 TERM PROJECT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B91EAF0-2E76-4DC2-85DE-7947CEB20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428750"/>
            <a:ext cx="7620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36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Predicting At-Risk Student Academic Performance Using Machine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9CA55EB-6E30-4ACD-98BE-0E7A6E8DC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143250"/>
            <a:ext cx="7429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DDE5EE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DDE5EE"/>
                </a:solidFill>
                <a:latin typeface="Aptos"/>
                <a:ea typeface="Aptos"/>
                <a:cs typeface="Aptos"/>
              </a:rPr>
              <a:t>A comparative supervised classification project using the UCI Student Performance dataset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2F247C-9B63-4687-9054-7775BC3C3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466850"/>
            <a:ext cx="2857500" cy="1962150"/>
          </a:xfrm>
          <a:prstGeom xmlns:a="http://schemas.openxmlformats.org/drawingml/2006/main" prst="roundRect">
            <a:avLst>
              <a:gd name="adj" fmla="val 582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5E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B31D54-9410-490D-A979-D0C6D5D45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466850"/>
            <a:ext cx="76200" cy="196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E3B6"/>
          </a:solidFill>
          <a:ln xmlns:a="http://schemas.openxmlformats.org/drawingml/2006/main" w="0">
            <a:solidFill>
              <a:srgbClr val="9BE3B6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304186A-941E-4ADE-8692-A819BE2EA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1619250"/>
            <a:ext cx="2514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B1F3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1F3A"/>
                </a:solidFill>
                <a:latin typeface="Aptos"/>
                <a:ea typeface="Aptos"/>
                <a:cs typeface="Aptos"/>
              </a:rPr>
              <a:t>Submitted by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062E2B6-D7A0-4184-8068-83EBB2F84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019300"/>
            <a:ext cx="2514600" cy="129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Musbahu Tijjani</a:t>
            </a:r>
          </a:p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P25EGCP8009</a:t>
            </a:r>
          </a:p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Course: COEN807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7D2FD62-D2C4-4CFC-A8B1-8D856B004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810250"/>
            <a:ext cx="8191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DDE5EE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DDE5EE"/>
                </a:solidFill>
                <a:latin typeface="Aptos"/>
                <a:ea typeface="Aptos"/>
                <a:cs typeface="Aptos"/>
              </a:rPr>
              <a:t>GitHub: https://github.com/MusbahuTijjani/COEN807_Student_Performance_ML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DBBD0C2-B2BB-4058-8007-8A85B43EC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58102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DDE5EE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DDE5EE"/>
                </a:solidFill>
                <a:latin typeface="Aptos"/>
                <a:ea typeface="Aptos"/>
                <a:cs typeface="Aptos"/>
              </a:rPr>
              <a:t>June 2026</a:t>
            </a:r>
          </a:p>
        </p:txBody>
      </p:sp>
    </p:spTree>
    <p:extLst>
      <p:ext uri="{BB962C8B-B14F-4D97-AF65-F5344CB8AC3E}">
        <p14:creationId xmlns:p14="http://schemas.microsoft.com/office/powerpoint/2010/main" val="186223308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5BD25DE-C796-4284-A2BE-07F18FF7D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685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E8F5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E8F5A"/>
                </a:solidFill>
                <a:latin typeface="Aptos"/>
                <a:ea typeface="Aptos"/>
                <a:cs typeface="Aptos"/>
              </a:rPr>
              <a:t>COEN807 MACHINE LEARNING TERM PROJECT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8A1D813-2F41-4DA4-9068-8B9112E02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8763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B1F3A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0B1F3A"/>
                </a:solidFill>
                <a:latin typeface="Aptos Display"/>
                <a:ea typeface="Aptos Display"/>
                <a:cs typeface="Aptos Display"/>
              </a:rPr>
              <a:t>Problem Overview and Objectives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13BBE77-EB72-4A85-A2A5-988EC4815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333750" cy="2952750"/>
          </a:xfrm>
          <a:prstGeom xmlns:a="http://schemas.openxmlformats.org/drawingml/2006/main" prst="roundRect">
            <a:avLst>
              <a:gd name="adj" fmla="val 38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5E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ABB7F32-EE04-4D81-B5BE-56BC38544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76200" cy="2952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23A48"/>
          </a:solidFill>
          <a:ln xmlns:a="http://schemas.openxmlformats.org/drawingml/2006/main" w="0">
            <a:solidFill>
              <a:srgbClr val="B23A4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3FD19E6-04E8-445D-BD1B-EA4D7DFC6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771650"/>
            <a:ext cx="2990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B1F3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1F3A"/>
                </a:solidFill>
                <a:latin typeface="Aptos"/>
                <a:ea typeface="Aptos"/>
                <a:cs typeface="Aptos"/>
              </a:rPr>
              <a:t>Problem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1E24356-9E7D-47B3-8A4F-480557481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171700"/>
            <a:ext cx="299085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Identify students likely to fail final course performance so support can be offered before final outcomes.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382900F-3EB4-42ED-BF97-C0C77DA92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1619250"/>
            <a:ext cx="3333750" cy="2952750"/>
          </a:xfrm>
          <a:prstGeom xmlns:a="http://schemas.openxmlformats.org/drawingml/2006/main" prst="roundRect">
            <a:avLst>
              <a:gd name="adj" fmla="val 38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5E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86F354F-F41E-48BA-BB13-CC5B71173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1619250"/>
            <a:ext cx="76200" cy="2952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8F5A"/>
          </a:solidFill>
          <a:ln xmlns:a="http://schemas.openxmlformats.org/drawingml/2006/main" w="0">
            <a:solidFill>
              <a:srgbClr val="0E8F5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46426BB-289D-4131-B6D8-B208733CB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1771650"/>
            <a:ext cx="2990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B1F3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1F3A"/>
                </a:solidFill>
                <a:latin typeface="Aptos"/>
                <a:ea typeface="Aptos"/>
                <a:cs typeface="Aptos"/>
              </a:rPr>
              <a:t>Objective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53DB1BC-0D5C-4073-9BD1-C02EE7AD8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171700"/>
            <a:ext cx="299085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Build and compare supervised ML models that predict At_Risk status from student, family, school, and behavioural data.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FEF8556-01A5-48F5-B861-E46034B0E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619250"/>
            <a:ext cx="3333750" cy="2952750"/>
          </a:xfrm>
          <a:prstGeom xmlns:a="http://schemas.openxmlformats.org/drawingml/2006/main" prst="roundRect">
            <a:avLst>
              <a:gd name="adj" fmla="val 38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5E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38CDF9D-7D1B-4F13-BEBF-F9FAAAA16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619250"/>
            <a:ext cx="76200" cy="2952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0">
            <a:solidFill>
              <a:srgbClr val="0B1F3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8A47E11-4FCA-492D-BC78-E08DD9487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771650"/>
            <a:ext cx="2990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B1F3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1F3A"/>
                </a:solidFill>
                <a:latin typeface="Aptos"/>
                <a:ea typeface="Aptos"/>
                <a:cs typeface="Aptos"/>
              </a:rPr>
              <a:t>Decision Use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A6FD990-644A-4B44-AAFC-EDD68E2C0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171700"/>
            <a:ext cx="299085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Use predictions for academic support, tutoring, and early intervention, not punishment or exclusion.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A8BAA1B-D4C7-4152-816C-EE8D7475B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B6470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B6470"/>
                </a:solidFill>
                <a:latin typeface="Aptos"/>
                <a:ea typeface="Aptos"/>
                <a:cs typeface="Aptos"/>
              </a:rPr>
              <a:t>COEN807 | Machine Learning | Musbahu Tijjani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C40DC47-B9D9-4407-A933-B12A99B79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6438900"/>
            <a:ext cx="514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50" b="0">
                <a:solidFill>
                  <a:srgbClr val="5B6470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B6470"/>
                </a:solidFill>
                <a:latin typeface="Aptos"/>
                <a:ea typeface="Aptos"/>
                <a:cs typeface="Aptos"/>
              </a:rPr>
              <a:t>https://github.com/MusbahuTijjani/COEN807_Student_Performance_ML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D344657-925A-48FB-8409-B8BA107F9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B64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B6470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85665079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3ED19F3-74AF-4D48-A4DD-40E23A034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685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E8F5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E8F5A"/>
                </a:solidFill>
                <a:latin typeface="Aptos"/>
                <a:ea typeface="Aptos"/>
                <a:cs typeface="Aptos"/>
              </a:rPr>
              <a:t>COEN807 MACHINE LEARNING TERM PROJECT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6FD31EC-4B6A-4B8A-B7F9-4596355F3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8763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B1F3A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0B1F3A"/>
                </a:solidFill>
                <a:latin typeface="Aptos Display"/>
                <a:ea typeface="Aptos Display"/>
                <a:cs typeface="Aptos Display"/>
              </a:rPr>
              <a:t>Dataset and Target Definition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5E1A320-0808-47D2-9586-7BF2BBF7A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71625"/>
            <a:ext cx="5334000" cy="3429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- Source: UCI Machine Learning Repository, Student Performance dataset.</a:t>
            </a:r>
          </a:p>
          <a:p xmlns:a="http://schemas.openxmlformats.org/drawingml/2006/main">
            <a:pPr algn="l">
              <a:defRPr sz="15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- Selected file: Portuguese language course subset, student-por.csv.</a:t>
            </a:r>
          </a:p>
          <a:p xmlns:a="http://schemas.openxmlformats.org/drawingml/2006/main">
            <a:pPr algn="l">
              <a:defRPr sz="15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- Records: 649 students with demographic, school, family, behavioural, and grade variables.</a:t>
            </a:r>
          </a:p>
          <a:p xmlns:a="http://schemas.openxmlformats.org/drawingml/2006/main">
            <a:pPr algn="l">
              <a:defRPr sz="15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- Target: At_Risk = 1 when final grade G3 is below 10 out of 20.</a:t>
            </a:r>
          </a:p>
          <a:p xmlns:a="http://schemas.openxmlformats.org/drawingml/2006/main">
            <a:pPr algn="l">
              <a:defRPr sz="15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- Class distribution: 100 at-risk and 549 not-at-risk students.</a:t>
            </a:r>
          </a:p>
        </p:txBody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3b43ba3987e4061"/>
          <a:stretch xmlns:a="http://schemas.openxmlformats.org/drawingml/2006/main"/>
        </p:blipFill>
        <p:spPr>
          <a:xfrm xmlns:a="http://schemas.openxmlformats.org/drawingml/2006/main">
            <a:off x="6572250" y="1555750"/>
            <a:ext cx="4476750" cy="29845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520C74D-59E3-4FDE-8555-C716B74DE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B6470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B6470"/>
                </a:solidFill>
                <a:latin typeface="Aptos"/>
                <a:ea typeface="Aptos"/>
                <a:cs typeface="Aptos"/>
              </a:rPr>
              <a:t>COEN807 | Machine Learning | Musbahu Tijjani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CA7D832-BA0A-4662-8705-FD2DBF0D8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6438900"/>
            <a:ext cx="514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50" b="0">
                <a:solidFill>
                  <a:srgbClr val="5B6470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B6470"/>
                </a:solidFill>
                <a:latin typeface="Aptos"/>
                <a:ea typeface="Aptos"/>
                <a:cs typeface="Aptos"/>
              </a:rPr>
              <a:t>https://github.com/MusbahuTijjani/COEN807_Student_Performance_ML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BA67599-4692-4D5C-8B43-ABB80824E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B64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B6470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40260994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9C7235D-E8FF-4F4D-824F-C604242FC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685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E8F5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E8F5A"/>
                </a:solidFill>
                <a:latin typeface="Aptos"/>
                <a:ea typeface="Aptos"/>
                <a:cs typeface="Aptos"/>
              </a:rPr>
              <a:t>COEN807 MACHINE LEARNING TERM PROJECT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E508BE9-1656-4C73-AF51-EBBC50348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8763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B1F3A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0B1F3A"/>
                </a:solidFill>
                <a:latin typeface="Aptos Display"/>
                <a:ea typeface="Aptos Display"/>
                <a:cs typeface="Aptos Display"/>
              </a:rPr>
              <a:t>End-to-End Methodology Workflow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27E9B66-E52D-4F8F-8A86-6E869922B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38375"/>
            <a:ext cx="180975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5EE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D0AF0A1-2D60-4BD7-9BC7-C1B216466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38125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E8F5A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0E8F5A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722785A-CBF9-4110-A82D-84812AA30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00375"/>
            <a:ext cx="1428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B1F3A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0B1F3A"/>
                </a:solidFill>
                <a:latin typeface="Aptos"/>
                <a:ea typeface="Aptos"/>
                <a:cs typeface="Aptos"/>
              </a:rPr>
              <a:t>Acquire public dataset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015966D-C935-4C06-B993-FFFCCBC92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714625"/>
            <a:ext cx="333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5B6470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5B6470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079C1EE-30F3-4CF6-9951-EBF334AE3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238375"/>
            <a:ext cx="180975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5EE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A61124B-7748-4102-A30A-917EDFE99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38125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E8F5A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0E8F5A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23B6ED1-B52F-4E1E-94CC-D767D059C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000375"/>
            <a:ext cx="1428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B1F3A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0B1F3A"/>
                </a:solidFill>
                <a:latin typeface="Aptos"/>
                <a:ea typeface="Aptos"/>
                <a:cs typeface="Aptos"/>
              </a:rPr>
              <a:t>Engineer At_Risk target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B617D32-E9F1-463F-8AE4-9D83623A8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2714625"/>
            <a:ext cx="333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5B6470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5B6470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BB664AA-43A3-4F00-9ADA-DD5E0E428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238375"/>
            <a:ext cx="180975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5EE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CE1355E-2092-4C39-899D-D2A1E8EF1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38125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E8F5A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0E8F5A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E9C4972-8675-4AAE-B6D6-6162C154C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3000375"/>
            <a:ext cx="1428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B1F3A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0B1F3A"/>
                </a:solidFill>
                <a:latin typeface="Aptos"/>
                <a:ea typeface="Aptos"/>
                <a:cs typeface="Aptos"/>
              </a:rPr>
              <a:t>Preprocess features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31B9ED9-8004-441B-8B19-8C454BD26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2714625"/>
            <a:ext cx="333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5B6470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5B6470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3ADDAD2-6842-4766-BE14-180446020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238375"/>
            <a:ext cx="180975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5EE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1574F9F-C8C5-42C4-AA7D-E186640D6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38125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E8F5A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0E8F5A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238C04B-5DC0-4C62-9E4F-B4B99D849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3000375"/>
            <a:ext cx="1428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B1F3A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0B1F3A"/>
                </a:solidFill>
                <a:latin typeface="Aptos"/>
                <a:ea typeface="Aptos"/>
                <a:cs typeface="Aptos"/>
              </a:rPr>
              <a:t>Train and tune models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7FC7F4A-51C4-4BFB-B7D5-43B2A4377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2714625"/>
            <a:ext cx="333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5B6470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5B6470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6F001A7-92A6-418A-8176-E953AE9F1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238375"/>
            <a:ext cx="180975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5EE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EE0D16B-CB20-4060-8208-6C35AF09F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238125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E8F5A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0E8F5A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AD3F469-7E9C-490B-9095-8DBE8E083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3000375"/>
            <a:ext cx="1428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B1F3A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0B1F3A"/>
                </a:solidFill>
                <a:latin typeface="Aptos"/>
                <a:ea typeface="Aptos"/>
                <a:cs typeface="Aptos"/>
              </a:rPr>
              <a:t>Evaluate and interpret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969483F-8B6C-4D88-9599-0076882A0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476750"/>
            <a:ext cx="952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Implementation used scikit-learn pipelines so preprocessing and model fitting remain reproducible.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3DB6B6F-3DF4-4990-8A2A-76ADDD480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B6470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B6470"/>
                </a:solidFill>
                <a:latin typeface="Aptos"/>
                <a:ea typeface="Aptos"/>
                <a:cs typeface="Aptos"/>
              </a:rPr>
              <a:t>COEN807 | Machine Learning | Musbahu Tijjani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89F0474-A4C6-4670-897D-5C9E3D635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6438900"/>
            <a:ext cx="514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50" b="0">
                <a:solidFill>
                  <a:srgbClr val="5B6470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B6470"/>
                </a:solidFill>
                <a:latin typeface="Aptos"/>
                <a:ea typeface="Aptos"/>
                <a:cs typeface="Aptos"/>
              </a:rPr>
              <a:t>https://github.com/MusbahuTijjani/COEN807_Student_Performance_ML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2BE9E89-C282-48B8-9580-91165C8BD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B64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B6470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141607588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0DA49B8-12C7-46E4-BE72-9C5596CBB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685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E8F5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E8F5A"/>
                </a:solidFill>
                <a:latin typeface="Aptos"/>
                <a:ea typeface="Aptos"/>
                <a:cs typeface="Aptos"/>
              </a:rPr>
              <a:t>COEN807 MACHINE LEARNING TERM PROJECT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F811C43-F82F-4111-8522-FDEDF64DB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8763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B1F3A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0B1F3A"/>
                </a:solidFill>
                <a:latin typeface="Aptos Display"/>
                <a:ea typeface="Aptos Display"/>
                <a:cs typeface="Aptos Display"/>
              </a:rPr>
              <a:t>Preprocessing and Feature Engineering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6BF1B9E-70BC-4CEE-80CF-92211C28F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00200"/>
            <a:ext cx="3143250" cy="3048000"/>
          </a:xfrm>
          <a:prstGeom xmlns:a="http://schemas.openxmlformats.org/drawingml/2006/main" prst="roundRect">
            <a:avLst>
              <a:gd name="adj" fmla="val 37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5E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8DEB43C-5BF4-44AE-8DEC-BDDA832EC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00200"/>
            <a:ext cx="7620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23A48"/>
          </a:solidFill>
          <a:ln xmlns:a="http://schemas.openxmlformats.org/drawingml/2006/main" w="0">
            <a:solidFill>
              <a:srgbClr val="B23A4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674015F-C128-4FEE-8E8D-828F53BD6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52600"/>
            <a:ext cx="2800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B1F3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1F3A"/>
                </a:solidFill>
                <a:latin typeface="Aptos"/>
                <a:ea typeface="Aptos"/>
                <a:cs typeface="Aptos"/>
              </a:rPr>
              <a:t>Target Engineering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E83B2D5-839C-4E60-8A51-E9E56D135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52650"/>
            <a:ext cx="280035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At_Risk = 1 if G3 &lt; 10.</a:t>
            </a:r>
          </a:p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At_Risk = 0 otherwise.</a:t>
            </a:r>
          </a:p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This turns final grade prediction into a support-focused classification task.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5D4649E-5BAD-40EB-AC38-2B4D5B2FC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1600200"/>
            <a:ext cx="3143250" cy="3048000"/>
          </a:xfrm>
          <a:prstGeom xmlns:a="http://schemas.openxmlformats.org/drawingml/2006/main" prst="roundRect">
            <a:avLst>
              <a:gd name="adj" fmla="val 37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5E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1F3A893-F778-45FC-B2B4-0DB1F3CF6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1600200"/>
            <a:ext cx="7620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8F5A"/>
          </a:solidFill>
          <a:ln xmlns:a="http://schemas.openxmlformats.org/drawingml/2006/main" w="0">
            <a:solidFill>
              <a:srgbClr val="0E8F5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4DF509E-9596-4307-B2E3-C981802D3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1752600"/>
            <a:ext cx="2800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B1F3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1F3A"/>
                </a:solidFill>
                <a:latin typeface="Aptos"/>
                <a:ea typeface="Aptos"/>
                <a:cs typeface="Aptos"/>
              </a:rPr>
              <a:t>Feature Processing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38977A1-E029-49AA-B380-1CBB3AB2D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2152650"/>
            <a:ext cx="280035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Categorical variables: one-hot encoding.</a:t>
            </a:r>
          </a:p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Numeric variables: median imputation and standardisation.</a:t>
            </a:r>
          </a:p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Train-test split: stratified 80/20.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952FC13-90C0-4A3B-A78A-773A4FFCF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1600200"/>
            <a:ext cx="3143250" cy="3048000"/>
          </a:xfrm>
          <a:prstGeom xmlns:a="http://schemas.openxmlformats.org/drawingml/2006/main" prst="roundRect">
            <a:avLst>
              <a:gd name="adj" fmla="val 37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5E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4DAD25A-43E3-4926-B8BC-6138110BC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1600200"/>
            <a:ext cx="7620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0">
            <a:solidFill>
              <a:srgbClr val="0B1F3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F01C183-9DBC-4062-917A-9D8A1066E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1752600"/>
            <a:ext cx="2800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B1F3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1F3A"/>
                </a:solidFill>
                <a:latin typeface="Aptos"/>
                <a:ea typeface="Aptos"/>
                <a:cs typeface="Aptos"/>
              </a:rPr>
              <a:t>Two Experiments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BCD1673-FA46-4A06-AC14-334D1CD54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2152650"/>
            <a:ext cx="280035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Early-warning: excludes G1 and G2.</a:t>
            </a:r>
          </a:p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Performance-aware: includes G1 and G2.</a:t>
            </a:r>
          </a:p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This separates early usefulness from predictive strength.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B5F0F96-214A-4F9A-8319-EFFF6EDFA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B6470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B6470"/>
                </a:solidFill>
                <a:latin typeface="Aptos"/>
                <a:ea typeface="Aptos"/>
                <a:cs typeface="Aptos"/>
              </a:rPr>
              <a:t>COEN807 | Machine Learning | Musbahu Tijjani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3833525-2162-4A14-929E-58E1B8960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6438900"/>
            <a:ext cx="514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50" b="0">
                <a:solidFill>
                  <a:srgbClr val="5B6470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B6470"/>
                </a:solidFill>
                <a:latin typeface="Aptos"/>
                <a:ea typeface="Aptos"/>
                <a:cs typeface="Aptos"/>
              </a:rPr>
              <a:t>https://github.com/MusbahuTijjani/COEN807_Student_Performance_ML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3DE45E4-A79F-495C-BAE3-65806D1D2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B64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B6470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78074760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D431AD0-4AF6-4D6A-AB9E-5515B0F2B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685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E8F5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E8F5A"/>
                </a:solidFill>
                <a:latin typeface="Aptos"/>
                <a:ea typeface="Aptos"/>
                <a:cs typeface="Aptos"/>
              </a:rPr>
              <a:t>COEN807 MACHINE LEARNING TERM PROJECT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BC21B59-24A0-4F08-9335-EA3C95835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8763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B1F3A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0B1F3A"/>
                </a:solidFill>
                <a:latin typeface="Aptos Display"/>
                <a:ea typeface="Aptos Display"/>
                <a:cs typeface="Aptos Display"/>
              </a:rPr>
              <a:t>Models Compared and Tuning Design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F22D73C-2353-4B1D-86F8-BDF8DBE7F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524000"/>
            <a:ext cx="9525000" cy="3429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- Dummy Majority baseline checks whether accuracy is misleading.</a:t>
            </a:r>
          </a:p>
          <a:p xmlns:a="http://schemas.openxmlformats.org/drawingml/2006/main">
            <a:pPr algn="l">
              <a:defRPr sz="16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- Logistic Regression gives an interpretable linear baseline.</a:t>
            </a:r>
          </a:p>
          <a:p xmlns:a="http://schemas.openxmlformats.org/drawingml/2006/main">
            <a:pPr algn="l">
              <a:defRPr sz="16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- Decision Tree gives rule-based nonlinear structure.</a:t>
            </a:r>
          </a:p>
          <a:p xmlns:a="http://schemas.openxmlformats.org/drawingml/2006/main">
            <a:pPr algn="l">
              <a:defRPr sz="16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- Random Forest and Gradient Boosting test ensemble tree performance.</a:t>
            </a:r>
          </a:p>
          <a:p xmlns:a="http://schemas.openxmlformats.org/drawingml/2006/main">
            <a:pPr algn="l">
              <a:defRPr sz="16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- Support Vector Machine tests a margin-based classifier.</a:t>
            </a:r>
          </a:p>
          <a:p xmlns:a="http://schemas.openxmlformats.org/drawingml/2006/main">
            <a:pPr algn="l">
              <a:defRPr sz="16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- GridSearchCV with five-fold stratified cross-validation tuned model hyperparameters.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2D8DF42-8669-424B-94FE-6B4D59714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000625"/>
            <a:ext cx="1714500" cy="1047750"/>
          </a:xfrm>
          <a:prstGeom xmlns:a="http://schemas.openxmlformats.org/drawingml/2006/main" prst="roundRect">
            <a:avLst>
              <a:gd name="adj" fmla="val 109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5EE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87720F9-7A50-4CD4-BC0D-8FC88613C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5210175"/>
            <a:ext cx="1447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0B1F3A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0B1F3A"/>
                </a:solidFill>
                <a:latin typeface="Aptos"/>
                <a:ea typeface="Aptos"/>
                <a:cs typeface="Aptos"/>
              </a:rPr>
              <a:t>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B62D652-F5CB-45B9-A0A3-CE90A0A64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5648325"/>
            <a:ext cx="1447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5B6470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B6470"/>
                </a:solidFill>
                <a:latin typeface="Aptos"/>
                <a:ea typeface="Aptos"/>
                <a:cs typeface="Aptos"/>
              </a:rPr>
              <a:t>Models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0567478-D177-4EED-ACE6-ADE8DFAC3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5000625"/>
            <a:ext cx="1714500" cy="1047750"/>
          </a:xfrm>
          <a:prstGeom xmlns:a="http://schemas.openxmlformats.org/drawingml/2006/main" prst="roundRect">
            <a:avLst>
              <a:gd name="adj" fmla="val 109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5EE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C10C784-A8B5-4CCA-90FC-A3FA70545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5210175"/>
            <a:ext cx="1447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0E8F5A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0E8F5A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EDF4D4D-44B3-4093-9C0B-702654429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5648325"/>
            <a:ext cx="1447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5B6470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B6470"/>
                </a:solidFill>
                <a:latin typeface="Aptos"/>
                <a:ea typeface="Aptos"/>
                <a:cs typeface="Aptos"/>
              </a:rPr>
              <a:t>CV folds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0DE9DD3-BF5D-4BD1-8135-7C8A20533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5000625"/>
            <a:ext cx="1714500" cy="1047750"/>
          </a:xfrm>
          <a:prstGeom xmlns:a="http://schemas.openxmlformats.org/drawingml/2006/main" prst="roundRect">
            <a:avLst>
              <a:gd name="adj" fmla="val 109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5EE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9932345-0B66-4762-9173-A463A8EEB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5210175"/>
            <a:ext cx="1447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0B1F3A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0B1F3A"/>
                </a:solidFill>
                <a:latin typeface="Aptos"/>
                <a:ea typeface="Aptos"/>
                <a:cs typeface="Aptos"/>
              </a:rPr>
              <a:t>20%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8EAAA88-8DF9-44F0-8333-CE66CD6E3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5648325"/>
            <a:ext cx="1447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5B6470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B6470"/>
                </a:solidFill>
                <a:latin typeface="Aptos"/>
                <a:ea typeface="Aptos"/>
                <a:cs typeface="Aptos"/>
              </a:rPr>
              <a:t>Test split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06316BF-A92E-488E-9154-79C8FE2C0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5000625"/>
            <a:ext cx="1714500" cy="1047750"/>
          </a:xfrm>
          <a:prstGeom xmlns:a="http://schemas.openxmlformats.org/drawingml/2006/main" prst="roundRect">
            <a:avLst>
              <a:gd name="adj" fmla="val 109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5EE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3740030-9526-4BB8-BF6E-6DA93377D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5210175"/>
            <a:ext cx="1447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B23A48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B23A48"/>
                </a:solidFill>
                <a:latin typeface="Aptos"/>
                <a:ea typeface="Aptos"/>
                <a:cs typeface="Aptos"/>
              </a:rPr>
              <a:t>F1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646203D-D77F-465A-A27B-FA09862CE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5648325"/>
            <a:ext cx="1447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5B6470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B6470"/>
                </a:solidFill>
                <a:latin typeface="Aptos"/>
                <a:ea typeface="Aptos"/>
                <a:cs typeface="Aptos"/>
              </a:rPr>
              <a:t>Primary metric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0CDF32C-8785-4268-8AB5-94AE1241B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B6470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B6470"/>
                </a:solidFill>
                <a:latin typeface="Aptos"/>
                <a:ea typeface="Aptos"/>
                <a:cs typeface="Aptos"/>
              </a:rPr>
              <a:t>COEN807 | Machine Learning | Musbahu Tijjani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423B055-DC5D-4EBD-B73B-518D5BA4F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6438900"/>
            <a:ext cx="514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50" b="0">
                <a:solidFill>
                  <a:srgbClr val="5B6470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B6470"/>
                </a:solidFill>
                <a:latin typeface="Aptos"/>
                <a:ea typeface="Aptos"/>
                <a:cs typeface="Aptos"/>
              </a:rPr>
              <a:t>https://github.com/MusbahuTijjani/COEN807_Student_Performance_ML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D530E35-898F-44FA-9580-D96A5C21F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B64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B6470"/>
                </a:solidFill>
                <a:latin typeface="Aptos"/>
                <a:ea typeface="Aptos"/>
                <a:cs typeface="Aptos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193177013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2375635-74D7-4917-8863-7E08F8F9E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685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E8F5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E8F5A"/>
                </a:solidFill>
                <a:latin typeface="Aptos"/>
                <a:ea typeface="Aptos"/>
                <a:cs typeface="Aptos"/>
              </a:rPr>
              <a:t>COEN807 MACHINE LEARNING TERM PROJECT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E07D9BD-DB2A-4F96-8AA7-D63B86FA4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8763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B1F3A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0B1F3A"/>
                </a:solidFill>
                <a:latin typeface="Aptos Display"/>
                <a:ea typeface="Aptos Display"/>
                <a:cs typeface="Aptos Display"/>
              </a:rPr>
              <a:t>Experimental Setup and Metrics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8C3D419-8CB3-4517-9151-951BD5462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524000"/>
            <a:ext cx="3238500" cy="314325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5E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3705076-460B-46B5-8C48-2B1EC20E3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524000"/>
            <a:ext cx="7620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23A48"/>
          </a:solidFill>
          <a:ln xmlns:a="http://schemas.openxmlformats.org/drawingml/2006/main" w="0">
            <a:solidFill>
              <a:srgbClr val="B23A4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D80417C-4F9D-4AEA-B89D-93D31EE01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676400"/>
            <a:ext cx="2895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B1F3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1F3A"/>
                </a:solidFill>
                <a:latin typeface="Aptos"/>
                <a:ea typeface="Aptos"/>
                <a:cs typeface="Aptos"/>
              </a:rPr>
              <a:t>Why Not Accuracy Alone?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DF76681-48E6-4206-AB28-46D2C84FB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76450"/>
            <a:ext cx="2895600" cy="247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The majority class is not-at-risk. A model can look accurate while detecting no at-risk students.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F5FAC3E-8C3D-4ABE-8685-6C99F8B2B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524000"/>
            <a:ext cx="3238500" cy="314325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5E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3B02AF9-D9BE-431A-9CAD-C635E6893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524000"/>
            <a:ext cx="7620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8F5A"/>
          </a:solidFill>
          <a:ln xmlns:a="http://schemas.openxmlformats.org/drawingml/2006/main" w="0">
            <a:solidFill>
              <a:srgbClr val="0E8F5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7DC00DE-6868-4DA6-A3B3-779435727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1676400"/>
            <a:ext cx="2895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B1F3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1F3A"/>
                </a:solidFill>
                <a:latin typeface="Aptos"/>
                <a:ea typeface="Aptos"/>
                <a:cs typeface="Aptos"/>
              </a:rPr>
              <a:t>Primary Metrics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E8CFB72-0969-4501-85F1-E668CDF29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076450"/>
            <a:ext cx="2895600" cy="247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At-risk recall: catches students needing support.</a:t>
            </a:r>
          </a:p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At-risk F1: balances recall and precision.</a:t>
            </a:r>
          </a:p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Balanced accuracy and ROC-AUC support comparison.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637F3DA-7927-49F9-A849-DF4E46BEF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524000"/>
            <a:ext cx="3238500" cy="314325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5E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13E4427-C426-4665-BD4E-67E87D801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524000"/>
            <a:ext cx="7620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0">
            <a:solidFill>
              <a:srgbClr val="0B1F3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BF9D0DD-3F9B-454A-AD5D-85D4D6DB5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1676400"/>
            <a:ext cx="2895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B1F3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1F3A"/>
                </a:solidFill>
                <a:latin typeface="Aptos"/>
                <a:ea typeface="Aptos"/>
                <a:cs typeface="Aptos"/>
              </a:rPr>
              <a:t>Operational View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A860F59-37DE-4B5F-96C6-E52DBF8B0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076450"/>
            <a:ext cx="2895600" cy="247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False negatives mean unsupported students.</a:t>
            </a:r>
          </a:p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False positives may still receive harmless academic support.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7FB244E-E62F-49E0-B41C-13B6744EA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B6470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B6470"/>
                </a:solidFill>
                <a:latin typeface="Aptos"/>
                <a:ea typeface="Aptos"/>
                <a:cs typeface="Aptos"/>
              </a:rPr>
              <a:t>COEN807 | Machine Learning | Musbahu Tijjani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1E6FB9D-2871-47FD-813D-3A55B136D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6438900"/>
            <a:ext cx="514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50" b="0">
                <a:solidFill>
                  <a:srgbClr val="5B6470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B6470"/>
                </a:solidFill>
                <a:latin typeface="Aptos"/>
                <a:ea typeface="Aptos"/>
                <a:cs typeface="Aptos"/>
              </a:rPr>
              <a:t>https://github.com/MusbahuTijjani/COEN807_Student_Performance_ML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648EB3E-C438-4010-A2EA-873846C58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B64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B6470"/>
                </a:solidFill>
                <a:latin typeface="Aptos"/>
                <a:ea typeface="Aptos"/>
                <a:cs typeface="Aptos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58426982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57F0FEA-74E9-4FBC-9763-584A976C9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685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E8F5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E8F5A"/>
                </a:solidFill>
                <a:latin typeface="Aptos"/>
                <a:ea typeface="Aptos"/>
                <a:cs typeface="Aptos"/>
              </a:rPr>
              <a:t>COEN807 MACHINE LEARNING TERM PROJECT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BD2D774-9329-4AEC-A3D2-6EA3BB547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8763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B1F3A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0B1F3A"/>
                </a:solidFill>
                <a:latin typeface="Aptos Display"/>
                <a:ea typeface="Aptos Display"/>
                <a:cs typeface="Aptos Display"/>
              </a:rPr>
              <a:t>Early-Warning Results: Without G1 and G2</a:t>
            </a:r>
          </a:p>
        </p:txBody>
      </p:sp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4ee7c3ee76f4683"/>
          <a:stretch xmlns:a="http://schemas.openxmlformats.org/drawingml/2006/main"/>
        </p:blipFill>
        <p:spPr>
          <a:xfrm xmlns:a="http://schemas.openxmlformats.org/drawingml/2006/main">
            <a:off x="666750" y="1595438"/>
            <a:ext cx="5572125" cy="3095625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8CA7C9C-5612-4359-8BE5-37F750208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571625"/>
            <a:ext cx="1714500" cy="1047750"/>
          </a:xfrm>
          <a:prstGeom xmlns:a="http://schemas.openxmlformats.org/drawingml/2006/main" prst="roundRect">
            <a:avLst>
              <a:gd name="adj" fmla="val 109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5EE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A195D5A-00A9-4B41-8882-AD2C0E8CF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1781175"/>
            <a:ext cx="1447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0B1F3A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0B1F3A"/>
                </a:solidFill>
                <a:latin typeface="Aptos"/>
                <a:ea typeface="Aptos"/>
                <a:cs typeface="Aptos"/>
              </a:rPr>
              <a:t>RF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591FCAF-84F8-48B1-81E5-EF2A18FE6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2219325"/>
            <a:ext cx="1447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5B6470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B6470"/>
                </a:solidFill>
                <a:latin typeface="Aptos"/>
                <a:ea typeface="Aptos"/>
                <a:cs typeface="Aptos"/>
              </a:rPr>
              <a:t>Best model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FB039B2-E0EE-4388-A368-9E960AF29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571625"/>
            <a:ext cx="1714500" cy="1047750"/>
          </a:xfrm>
          <a:prstGeom xmlns:a="http://schemas.openxmlformats.org/drawingml/2006/main" prst="roundRect">
            <a:avLst>
              <a:gd name="adj" fmla="val 109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5EE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FABBC6B-EAA6-467D-B79B-D5619AAA4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1781175"/>
            <a:ext cx="1447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0E8F5A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0E8F5A"/>
                </a:solidFill>
                <a:latin typeface="Aptos"/>
                <a:ea typeface="Aptos"/>
                <a:cs typeface="Aptos"/>
              </a:rPr>
              <a:t>0.800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AD9524B-E91A-4882-8599-2A774FED2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219325"/>
            <a:ext cx="1447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5B6470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B6470"/>
                </a:solidFill>
                <a:latin typeface="Aptos"/>
                <a:ea typeface="Aptos"/>
                <a:cs typeface="Aptos"/>
              </a:rPr>
              <a:t>Recall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9342EF7-EB64-40F7-96B6-06617CCCC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000375"/>
            <a:ext cx="1714500" cy="1047750"/>
          </a:xfrm>
          <a:prstGeom xmlns:a="http://schemas.openxmlformats.org/drawingml/2006/main" prst="roundRect">
            <a:avLst>
              <a:gd name="adj" fmla="val 109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5EE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77AF14-B5DA-4697-B777-08BC21946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3209925"/>
            <a:ext cx="1447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0E8F5A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0E8F5A"/>
                </a:solidFill>
                <a:latin typeface="Aptos"/>
                <a:ea typeface="Aptos"/>
                <a:cs typeface="Aptos"/>
              </a:rPr>
              <a:t>0.582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6336E95-4AC1-4DB6-9A1F-FD78EC5B4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3648075"/>
            <a:ext cx="1447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5B6470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B6470"/>
                </a:solidFill>
                <a:latin typeface="Aptos"/>
                <a:ea typeface="Aptos"/>
                <a:cs typeface="Aptos"/>
              </a:rPr>
              <a:t>F1-score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463F6C0-1186-4017-927C-8983584C1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000375"/>
            <a:ext cx="1714500" cy="1047750"/>
          </a:xfrm>
          <a:prstGeom xmlns:a="http://schemas.openxmlformats.org/drawingml/2006/main" prst="roundRect">
            <a:avLst>
              <a:gd name="adj" fmla="val 109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5EE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E56C2ED-B22D-4506-A52C-86B3679B7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3209925"/>
            <a:ext cx="1447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0B1F3A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0B1F3A"/>
                </a:solidFill>
                <a:latin typeface="Aptos"/>
                <a:ea typeface="Aptos"/>
                <a:cs typeface="Aptos"/>
              </a:rPr>
              <a:t>0.822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E30D0A0-7451-4C16-B530-157A1586B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3648075"/>
            <a:ext cx="1447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5B6470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B6470"/>
                </a:solidFill>
                <a:latin typeface="Aptos"/>
                <a:ea typeface="Aptos"/>
                <a:cs typeface="Aptos"/>
              </a:rPr>
              <a:t>ROC-AUC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75CE3C3-E76F-4C79-AC91-6CF8CE96E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572000"/>
            <a:ext cx="4381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Interpretation: Random Forest detected 16 of 20 at-risk students in the test set, but it also produced 19 false positives.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EAB2444-2563-40AC-AF46-520CAAA19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B6470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B6470"/>
                </a:solidFill>
                <a:latin typeface="Aptos"/>
                <a:ea typeface="Aptos"/>
                <a:cs typeface="Aptos"/>
              </a:rPr>
              <a:t>COEN807 | Machine Learning | Musbahu Tijjani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ADA3D4C-1893-4978-A256-00AC30504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6438900"/>
            <a:ext cx="514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50" b="0">
                <a:solidFill>
                  <a:srgbClr val="5B6470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B6470"/>
                </a:solidFill>
                <a:latin typeface="Aptos"/>
                <a:ea typeface="Aptos"/>
                <a:cs typeface="Aptos"/>
              </a:rPr>
              <a:t>https://github.com/MusbahuTijjani/COEN807_Student_Performance_ML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C2F1A19-B5DF-4D49-9564-02341D5B1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B64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B6470"/>
                </a:solidFill>
                <a:latin typeface="Aptos"/>
                <a:ea typeface="Aptos"/>
                <a:cs typeface="Aptos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09277551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49BE621-17CA-47BF-A7E7-CDC7A554C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685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E8F5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E8F5A"/>
                </a:solidFill>
                <a:latin typeface="Aptos"/>
                <a:ea typeface="Aptos"/>
                <a:cs typeface="Aptos"/>
              </a:rPr>
              <a:t>COEN807 MACHINE LEARNING TERM PROJECT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9F68558-61FD-47D3-84F9-915066DE8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8763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B1F3A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0B1F3A"/>
                </a:solidFill>
                <a:latin typeface="Aptos Display"/>
                <a:ea typeface="Aptos Display"/>
                <a:cs typeface="Aptos Display"/>
              </a:rPr>
              <a:t>Performance-Aware Results: With G1 and G2</a:t>
            </a:r>
          </a:p>
        </p:txBody>
      </p:sp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f6a2baac6254267"/>
          <a:stretch xmlns:a="http://schemas.openxmlformats.org/drawingml/2006/main"/>
        </p:blipFill>
        <p:spPr>
          <a:xfrm xmlns:a="http://schemas.openxmlformats.org/drawingml/2006/main">
            <a:off x="666750" y="1595438"/>
            <a:ext cx="5572125" cy="3095625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798FD9A-C1FE-41CD-96C0-7EC369B5C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571625"/>
            <a:ext cx="1714500" cy="1047750"/>
          </a:xfrm>
          <a:prstGeom xmlns:a="http://schemas.openxmlformats.org/drawingml/2006/main" prst="roundRect">
            <a:avLst>
              <a:gd name="adj" fmla="val 109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5EE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3F7F03-F2D1-4D85-BD4B-3865295D2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1781175"/>
            <a:ext cx="1447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0B1F3A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0B1F3A"/>
                </a:solidFill>
                <a:latin typeface="Aptos"/>
                <a:ea typeface="Aptos"/>
                <a:cs typeface="Aptos"/>
              </a:rPr>
              <a:t>SVM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8E8604D-7915-4F82-8C43-78403485D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2219325"/>
            <a:ext cx="1447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5B6470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B6470"/>
                </a:solidFill>
                <a:latin typeface="Aptos"/>
                <a:ea typeface="Aptos"/>
                <a:cs typeface="Aptos"/>
              </a:rPr>
              <a:t>Best model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497FE02-7DF0-4F01-B435-226029B02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571625"/>
            <a:ext cx="1714500" cy="1047750"/>
          </a:xfrm>
          <a:prstGeom xmlns:a="http://schemas.openxmlformats.org/drawingml/2006/main" prst="roundRect">
            <a:avLst>
              <a:gd name="adj" fmla="val 109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5EE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C2E5D47-C095-4238-88B0-0CF2481F9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1781175"/>
            <a:ext cx="1447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0E8F5A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0E8F5A"/>
                </a:solidFill>
                <a:latin typeface="Aptos"/>
                <a:ea typeface="Aptos"/>
                <a:cs typeface="Aptos"/>
              </a:rPr>
              <a:t>0.908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FB697F3-C4F7-4CF1-8969-40447F4CE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219325"/>
            <a:ext cx="1447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5B6470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B6470"/>
                </a:solidFill>
                <a:latin typeface="Aptos"/>
                <a:ea typeface="Aptos"/>
                <a:cs typeface="Aptos"/>
              </a:rPr>
              <a:t>Accuracy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89D695F-1B2C-48D0-87EB-DE9B5D791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000375"/>
            <a:ext cx="1714500" cy="1047750"/>
          </a:xfrm>
          <a:prstGeom xmlns:a="http://schemas.openxmlformats.org/drawingml/2006/main" prst="roundRect">
            <a:avLst>
              <a:gd name="adj" fmla="val 109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5EE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3637126-0A92-4938-8300-6723680ED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3209925"/>
            <a:ext cx="1447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0E8F5A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0E8F5A"/>
                </a:solidFill>
                <a:latin typeface="Aptos"/>
                <a:ea typeface="Aptos"/>
                <a:cs typeface="Aptos"/>
              </a:rPr>
              <a:t>0.850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59543D4-AECE-4720-853B-95609CEE4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3648075"/>
            <a:ext cx="1447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5B6470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B6470"/>
                </a:solidFill>
                <a:latin typeface="Aptos"/>
                <a:ea typeface="Aptos"/>
                <a:cs typeface="Aptos"/>
              </a:rPr>
              <a:t>Recall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F841A51-9E65-43D5-A4F7-14778497F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000375"/>
            <a:ext cx="1714500" cy="1047750"/>
          </a:xfrm>
          <a:prstGeom xmlns:a="http://schemas.openxmlformats.org/drawingml/2006/main" prst="roundRect">
            <a:avLst>
              <a:gd name="adj" fmla="val 109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5EE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A48DA04-B39F-450D-8739-92496BAA2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3209925"/>
            <a:ext cx="1447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0B1F3A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0B1F3A"/>
                </a:solidFill>
                <a:latin typeface="Aptos"/>
                <a:ea typeface="Aptos"/>
                <a:cs typeface="Aptos"/>
              </a:rPr>
              <a:t>0.739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750A8A4-6BD7-48B4-9BC9-265276290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3648075"/>
            <a:ext cx="1447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5B6470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B6470"/>
                </a:solidFill>
                <a:latin typeface="Aptos"/>
                <a:ea typeface="Aptos"/>
                <a:cs typeface="Aptos"/>
              </a:rPr>
              <a:t>F1-score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0AF15E4-7C64-4837-AD1F-7EEFE88EB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572000"/>
            <a:ext cx="4381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Interpretation: adding prior grades improves prediction; the SVM detected 17 of 20 at-risk students and reduced false positives to 9.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B038DE7-4630-4E2A-ABA9-93DC1B80B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B6470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B6470"/>
                </a:solidFill>
                <a:latin typeface="Aptos"/>
                <a:ea typeface="Aptos"/>
                <a:cs typeface="Aptos"/>
              </a:rPr>
              <a:t>COEN807 | Machine Learning | Musbahu Tijjani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5847D08-1A7B-49EF-9DD4-D8351EFF8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6438900"/>
            <a:ext cx="514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50" b="0">
                <a:solidFill>
                  <a:srgbClr val="5B6470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B6470"/>
                </a:solidFill>
                <a:latin typeface="Aptos"/>
                <a:ea typeface="Aptos"/>
                <a:cs typeface="Aptos"/>
              </a:rPr>
              <a:t>https://github.com/MusbahuTijjani/COEN807_Student_Performance_ML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131ECC8-22FA-43A9-BFD7-9BAEC2BE3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B64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B6470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5258845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3C7601B-B921-4FE6-B9B0-FE9A01A92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685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E8F5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E8F5A"/>
                </a:solidFill>
                <a:latin typeface="Aptos"/>
                <a:ea typeface="Aptos"/>
                <a:cs typeface="Aptos"/>
              </a:rPr>
              <a:t>COEN807 MACHINE LEARNING TERM PROJECT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1D74684-C609-4A93-9560-FD833E447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8763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B1F3A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0B1F3A"/>
                </a:solidFill>
                <a:latin typeface="Aptos Display"/>
                <a:ea typeface="Aptos Display"/>
                <a:cs typeface="Aptos Display"/>
              </a:rPr>
              <a:t>Comparative Findings and Interpretation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de14dad17fe49de"/>
          <a:stretch xmlns:a="http://schemas.openxmlformats.org/drawingml/2006/main"/>
        </p:blipFill>
        <p:spPr>
          <a:xfrm xmlns:a="http://schemas.openxmlformats.org/drawingml/2006/main">
            <a:off x="723900" y="1676400"/>
            <a:ext cx="3190875" cy="2552700"/>
          </a:xfrm>
          <a:prstGeom xmlns:a="http://schemas.openxmlformats.org/drawingml/2006/main" prst="rect">
            <a:avLst/>
          </a:prstGeom>
        </p:spPr>
      </p:pic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038d2b9f30b4cc0"/>
          <a:stretch xmlns:a="http://schemas.openxmlformats.org/drawingml/2006/main"/>
        </p:blipFill>
        <p:spPr>
          <a:xfrm xmlns:a="http://schemas.openxmlformats.org/drawingml/2006/main">
            <a:off x="4429125" y="1676400"/>
            <a:ext cx="3190875" cy="25527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A22B9EA-5683-41D0-BAA9-6E4583A3A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1571625"/>
            <a:ext cx="3143250" cy="28575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5E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9B8436D-E5BD-4527-B835-95B8F2B6D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1571625"/>
            <a:ext cx="762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8F5A"/>
          </a:solidFill>
          <a:ln xmlns:a="http://schemas.openxmlformats.org/drawingml/2006/main" w="0">
            <a:solidFill>
              <a:srgbClr val="0E8F5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106AD27-9D7D-48B2-A39E-C08E34FAD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724025"/>
            <a:ext cx="2800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B1F3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1F3A"/>
                </a:solidFill>
                <a:latin typeface="Aptos"/>
                <a:ea typeface="Aptos"/>
                <a:cs typeface="Aptos"/>
              </a:rPr>
              <a:t>Main Finding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A5CF6CD-948B-4A66-B78B-356CF8B12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124075"/>
            <a:ext cx="280035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G1 and G2 strongly improve performance, but the early-warning model is more useful when interventions must begin before later grades are available.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D2760E8-28F8-4E22-BC29-D407CCF5A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857750"/>
            <a:ext cx="9334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B23A48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B23A48"/>
                </a:solidFill>
                <a:latin typeface="Aptos"/>
                <a:ea typeface="Aptos"/>
                <a:cs typeface="Aptos"/>
              </a:rPr>
              <a:t>Accuracy baseline warning: Dummy Majority scored 0.846 accuracy but detected 0 at-risk students.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AB32E47-467C-47D1-A209-D9BC62C2F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B6470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B6470"/>
                </a:solidFill>
                <a:latin typeface="Aptos"/>
                <a:ea typeface="Aptos"/>
                <a:cs typeface="Aptos"/>
              </a:rPr>
              <a:t>COEN807 | Machine Learning | Musbahu Tijjani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1FE4BF3-196A-419B-8C77-CE550E75F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6438900"/>
            <a:ext cx="514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50" b="0">
                <a:solidFill>
                  <a:srgbClr val="5B6470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B6470"/>
                </a:solidFill>
                <a:latin typeface="Aptos"/>
                <a:ea typeface="Aptos"/>
                <a:cs typeface="Aptos"/>
              </a:rPr>
              <a:t>https://github.com/MusbahuTijjani/COEN807_Student_Performance_ML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8D2204D-06F9-46E8-98FE-91B93107C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B64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B6470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0645119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68ABC62-E1E9-4CAE-B14A-6545EA7E3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685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E8F5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E8F5A"/>
                </a:solidFill>
                <a:latin typeface="Aptos"/>
                <a:ea typeface="Aptos"/>
                <a:cs typeface="Aptos"/>
              </a:rPr>
              <a:t>COEN807 MACHINE LEARNING TERM PROJECT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D794043-66C2-4B6E-8FEF-D448BEC65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8763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B1F3A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0B1F3A"/>
                </a:solidFill>
                <a:latin typeface="Aptos Display"/>
                <a:ea typeface="Aptos Display"/>
                <a:cs typeface="Aptos Display"/>
              </a:rPr>
              <a:t>Limitations, Bias, Ethics and Deployment Safeguards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1BDBA49-D9B8-414D-9832-725BD3EC8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24000"/>
            <a:ext cx="3333750" cy="314325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5E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5392A1D-1BEA-47A5-BB2D-8DFD8534F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24000"/>
            <a:ext cx="7620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0">
            <a:solidFill>
              <a:srgbClr val="0B1F3A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83CE19B-7742-4016-AB2E-EE71A3518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76400"/>
            <a:ext cx="2990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B1F3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1F3A"/>
                </a:solidFill>
                <a:latin typeface="Aptos"/>
                <a:ea typeface="Aptos"/>
                <a:cs typeface="Aptos"/>
              </a:rPr>
              <a:t>Limitations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3148418-3940-49AD-801C-19CBC88AE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076450"/>
            <a:ext cx="2990850" cy="247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Portuguese secondary school data may not generalise to Nigerian education contexts.</a:t>
            </a:r>
          </a:p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Dataset size is moderate and not all real-world factors are measured.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C03157F-DFA1-449A-84D1-D27E7EFB5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1524000"/>
            <a:ext cx="3333750" cy="314325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5E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C0976E0-5741-4D49-A8E6-6E85F8835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1524000"/>
            <a:ext cx="7620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23A48"/>
          </a:solidFill>
          <a:ln xmlns:a="http://schemas.openxmlformats.org/drawingml/2006/main" w="0">
            <a:solidFill>
              <a:srgbClr val="B23A4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009E5F9-4EFC-41AE-B749-B0DE57308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1676400"/>
            <a:ext cx="2990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B1F3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1F3A"/>
                </a:solidFill>
                <a:latin typeface="Aptos"/>
                <a:ea typeface="Aptos"/>
                <a:cs typeface="Aptos"/>
              </a:rPr>
              <a:t>Bias Risks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026F8D0-8B03-4807-BA8F-EB2B7D4BF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076450"/>
            <a:ext cx="2990850" cy="247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Address, internet access, parental education and family support may encode socioeconomic inequality.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76DAB6F-EFD6-4AC2-99CE-0F6EAA36C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524000"/>
            <a:ext cx="3333750" cy="314325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5E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6200008-E094-4D5A-B1BB-C34A1C5E5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524000"/>
            <a:ext cx="7620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8F5A"/>
          </a:solidFill>
          <a:ln xmlns:a="http://schemas.openxmlformats.org/drawingml/2006/main" w="0">
            <a:solidFill>
              <a:srgbClr val="0E8F5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7E8BFF5-7250-4B30-9708-32D88BB0C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676400"/>
            <a:ext cx="2990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B1F3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1F3A"/>
                </a:solidFill>
                <a:latin typeface="Aptos"/>
                <a:ea typeface="Aptos"/>
                <a:cs typeface="Aptos"/>
              </a:rPr>
              <a:t>Safeguards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F99E710-4E7A-40F4-8B6F-3B16A8152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076450"/>
            <a:ext cx="2990850" cy="247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Use for academic support only.</a:t>
            </a:r>
          </a:p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Validate locally.</a:t>
            </a:r>
          </a:p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Audit subgroups.</a:t>
            </a:r>
          </a:p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Keep human review and appeal procedures.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0DED06C-85CD-443D-8E5B-111D4479C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B6470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B6470"/>
                </a:solidFill>
                <a:latin typeface="Aptos"/>
                <a:ea typeface="Aptos"/>
                <a:cs typeface="Aptos"/>
              </a:rPr>
              <a:t>COEN807 | Machine Learning | Musbahu Tijjani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BF106FB-3F50-45BC-9743-C295BF705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6438900"/>
            <a:ext cx="514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50" b="0">
                <a:solidFill>
                  <a:srgbClr val="5B6470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B6470"/>
                </a:solidFill>
                <a:latin typeface="Aptos"/>
                <a:ea typeface="Aptos"/>
                <a:cs typeface="Aptos"/>
              </a:rPr>
              <a:t>https://github.com/MusbahuTijjani/COEN807_Student_Performance_ML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2A8C624-FC94-47AF-86C7-2D153976F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B64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B6470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59698962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FA6549F-E0F2-4264-9E42-B5A77A52A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685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E8F5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E8F5A"/>
                </a:solidFill>
                <a:latin typeface="Aptos"/>
                <a:ea typeface="Aptos"/>
                <a:cs typeface="Aptos"/>
              </a:rPr>
              <a:t>COEN807 MACHINE LEARNING TERM PROJECT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17379A-8B86-4D8C-98BD-EBCA592ED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8763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B1F3A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0B1F3A"/>
                </a:solidFill>
                <a:latin typeface="Aptos Display"/>
                <a:ea typeface="Aptos Display"/>
                <a:cs typeface="Aptos Display"/>
              </a:rPr>
              <a:t>Reproducibility and Submission Checklist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8FB760B-3D1B-491E-B3F3-4D8722CDC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9810750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- Report PDF and this PowerPoint deck include the GitHub repository link.</a:t>
            </a:r>
          </a:p>
          <a:p xmlns:a="http://schemas.openxmlformats.org/drawingml/2006/main">
            <a:pPr algn="l">
              <a:defRPr sz="17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- Repository contains source code, dataset/access instructions, outputs, figures, trained models and README.</a:t>
            </a:r>
          </a:p>
          <a:p xmlns:a="http://schemas.openxmlformats.org/drawingml/2006/main">
            <a:pPr algn="l">
              <a:defRPr sz="17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- Run workflow: pip install -r requirements.txt, then python src/train_models.py.</a:t>
            </a:r>
          </a:p>
          <a:p xmlns:a="http://schemas.openxmlformats.org/drawingml/2006/main">
            <a:pPr algn="l">
              <a:defRPr sz="17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- Google Drive folder must be set to: Anyone with the link can view.</a:t>
            </a:r>
          </a:p>
          <a:p xmlns:a="http://schemas.openxmlformats.org/drawingml/2006/main">
            <a:pPr algn="l">
              <a:defRPr sz="17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- Update GitHub link if the final repository URL differs from the placeholder.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35E84AB-1450-4D85-9C54-6121DA339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762500"/>
            <a:ext cx="9906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0E8F5A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0E8F5A"/>
                </a:solidFill>
                <a:latin typeface="Aptos"/>
                <a:ea typeface="Aptos"/>
                <a:cs typeface="Aptos"/>
              </a:rPr>
              <a:t>https://github.com/MusbahuTijjani/COEN807_Student_Performance_ML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F8AB97-2E24-4422-BB88-A9B2C0DAE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B6470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B6470"/>
                </a:solidFill>
                <a:latin typeface="Aptos"/>
                <a:ea typeface="Aptos"/>
                <a:cs typeface="Aptos"/>
              </a:rPr>
              <a:t>COEN807 | Machine Learning | Musbahu Tijjani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55F361D-7311-45A6-ABE8-E3F87C332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6438900"/>
            <a:ext cx="514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50" b="0">
                <a:solidFill>
                  <a:srgbClr val="5B6470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B6470"/>
                </a:solidFill>
                <a:latin typeface="Aptos"/>
                <a:ea typeface="Aptos"/>
                <a:cs typeface="Aptos"/>
              </a:rPr>
              <a:t>https://github.com/MusbahuTijjani/COEN807_Student_Performance_ML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54F1AD6-B0D1-4C18-96B2-500C8555C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B64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B6470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46641345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2026-06-15T15:10:21.2310000Z</dcterms:created>
  <dcterms:modified xsi:type="dcterms:W3CDTF">2026-06-15T15:10:21.2310000Z</dcterms:modified>
</coreProperties>
</file>