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fe8af66dec4391" /><Relationship Type="http://schemas.openxmlformats.org/officeDocument/2006/relationships/extended-properties" Target="/docProps/app.xml" Id="R49f1fd06865c49db" /><Relationship Type="http://schemas.openxmlformats.org/officeDocument/2006/relationships/officeDocument" Target="/ppt/presentation.xml" Id="R9037874fdf2747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56305fe5fb404f"/>
  </p:sldMasterIdLst>
  <p:notesMasterIdLst>
    <p:notesMasterId xmlns:r="http://schemas.openxmlformats.org/officeDocument/2006/relationships" r:id="R1338a264970c4d1e"/>
  </p:notesMasterIdLst>
  <p:sldIdLst>
    <p:sldId xmlns:r="http://schemas.openxmlformats.org/officeDocument/2006/relationships" id="256" r:id="R183ef48c5ee3407f"/>
    <p:sldId xmlns:r="http://schemas.openxmlformats.org/officeDocument/2006/relationships" id="257" r:id="R932351b18f6a41ba"/>
    <p:sldId xmlns:r="http://schemas.openxmlformats.org/officeDocument/2006/relationships" id="258" r:id="Rc3dd1e2cadf44761"/>
    <p:sldId xmlns:r="http://schemas.openxmlformats.org/officeDocument/2006/relationships" id="259" r:id="R07a4cc37d9f64e15"/>
    <p:sldId xmlns:r="http://schemas.openxmlformats.org/officeDocument/2006/relationships" id="260" r:id="Rcae0009a087e4a3c"/>
    <p:sldId xmlns:r="http://schemas.openxmlformats.org/officeDocument/2006/relationships" id="261" r:id="Rf0327acccb9141d1"/>
    <p:sldId xmlns:r="http://schemas.openxmlformats.org/officeDocument/2006/relationships" id="262" r:id="R0e432ab9b65343ed"/>
    <p:sldId xmlns:r="http://schemas.openxmlformats.org/officeDocument/2006/relationships" id="263" r:id="R8193f5cfaf304bef"/>
    <p:sldId xmlns:r="http://schemas.openxmlformats.org/officeDocument/2006/relationships" id="264" r:id="Rfc1fd59766f64f4b"/>
    <p:sldId xmlns:r="http://schemas.openxmlformats.org/officeDocument/2006/relationships" id="265" r:id="R0bb988ca4d57498b"/>
    <p:sldId xmlns:r="http://schemas.openxmlformats.org/officeDocument/2006/relationships" id="266" r:id="Rdc6e0db4e7a4445b"/>
    <p:sldId xmlns:r="http://schemas.openxmlformats.org/officeDocument/2006/relationships" id="267" r:id="Rdcc743ef828f49e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9eafc7e56d4b66" /><Relationship Type="http://schemas.openxmlformats.org/officeDocument/2006/relationships/slideMaster" Target="/ppt/slideMasters/slideMaster1.xml" Id="R4856305fe5fb404f" /><Relationship Type="http://schemas.openxmlformats.org/officeDocument/2006/relationships/notesMaster" Target="/ppt/notesMasters/notesMaster1.xml" Id="R1338a264970c4d1e" /><Relationship Type="http://schemas.openxmlformats.org/officeDocument/2006/relationships/presProps" Target="/ppt/presProps.xml" Id="Reccba0bbd61b4414" /><Relationship Type="http://schemas.openxmlformats.org/officeDocument/2006/relationships/tableStyles" Target="/ppt/tableStyles.xml" Id="R11aae4420bc748b1" /><Relationship Type="http://schemas.openxmlformats.org/officeDocument/2006/relationships/slide" Target="/ppt/slides/slide1.xml" Id="R183ef48c5ee3407f" /><Relationship Type="http://schemas.openxmlformats.org/officeDocument/2006/relationships/slide" Target="/ppt/slides/slide2.xml" Id="R932351b18f6a41ba" /><Relationship Type="http://schemas.openxmlformats.org/officeDocument/2006/relationships/slide" Target="/ppt/slides/slide3.xml" Id="Rc3dd1e2cadf44761" /><Relationship Type="http://schemas.openxmlformats.org/officeDocument/2006/relationships/slide" Target="/ppt/slides/slide4.xml" Id="R07a4cc37d9f64e15" /><Relationship Type="http://schemas.openxmlformats.org/officeDocument/2006/relationships/slide" Target="/ppt/slides/slide5.xml" Id="Rcae0009a087e4a3c" /><Relationship Type="http://schemas.openxmlformats.org/officeDocument/2006/relationships/slide" Target="/ppt/slides/slide6.xml" Id="Rf0327acccb9141d1" /><Relationship Type="http://schemas.openxmlformats.org/officeDocument/2006/relationships/slide" Target="/ppt/slides/slide7.xml" Id="R0e432ab9b65343ed" /><Relationship Type="http://schemas.openxmlformats.org/officeDocument/2006/relationships/slide" Target="/ppt/slides/slide8.xml" Id="R8193f5cfaf304bef" /><Relationship Type="http://schemas.openxmlformats.org/officeDocument/2006/relationships/slide" Target="/ppt/slides/slide9.xml" Id="Rfc1fd59766f64f4b" /><Relationship Type="http://schemas.openxmlformats.org/officeDocument/2006/relationships/slide" Target="/ppt/slides/slide10.xml" Id="R0bb988ca4d57498b" /><Relationship Type="http://schemas.openxmlformats.org/officeDocument/2006/relationships/slide" Target="/ppt/slides/slide11.xml" Id="Rdc6e0db4e7a4445b" /><Relationship Type="http://schemas.openxmlformats.org/officeDocument/2006/relationships/slide" Target="/ppt/slides/slide12.xml" Id="Rdcc743ef828f49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834fad20cf42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cde2f42a5c41bf" /><Relationship Type="http://schemas.openxmlformats.org/officeDocument/2006/relationships/notesMaster" Target="/ppt/notesMasters/notesMaster1.xml" Id="Rc4d19a036a4d45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e8d1b209144f39" /><Relationship Type="http://schemas.openxmlformats.org/officeDocument/2006/relationships/notesMaster" Target="/ppt/notesMasters/notesMaster1.xml" Id="R0afa880aee4d49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dea81a45314e72" /><Relationship Type="http://schemas.openxmlformats.org/officeDocument/2006/relationships/notesMaster" Target="/ppt/notesMasters/notesMaster1.xml" Id="R7bbe5ff3ccb14c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c44e6580bf4dbe" /><Relationship Type="http://schemas.openxmlformats.org/officeDocument/2006/relationships/notesMaster" Target="/ppt/notesMasters/notesMaster1.xml" Id="R0b35d0d41b2a40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782d736ae5488f" /><Relationship Type="http://schemas.openxmlformats.org/officeDocument/2006/relationships/notesMaster" Target="/ppt/notesMasters/notesMaster1.xml" Id="Rde1e554a365648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60417fa2ed4d91" /><Relationship Type="http://schemas.openxmlformats.org/officeDocument/2006/relationships/notesMaster" Target="/ppt/notesMasters/notesMaster1.xml" Id="Rc1cebf8fb6284e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29209b6805440a" /><Relationship Type="http://schemas.openxmlformats.org/officeDocument/2006/relationships/notesMaster" Target="/ppt/notesMasters/notesMaster1.xml" Id="R5a0393f61f6a42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2ba1bd37224e48" /><Relationship Type="http://schemas.openxmlformats.org/officeDocument/2006/relationships/notesMaster" Target="/ppt/notesMasters/notesMaster1.xml" Id="Ra951e078a9294d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fd52334f4c4c3c" /><Relationship Type="http://schemas.openxmlformats.org/officeDocument/2006/relationships/notesMaster" Target="/ppt/notesMasters/notesMaster1.xml" Id="R393513b517d741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ccc8fb4dc54b8d" /><Relationship Type="http://schemas.openxmlformats.org/officeDocument/2006/relationships/notesMaster" Target="/ppt/notesMasters/notesMaster1.xml" Id="R173d9882231b44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11587b0a1043da" /><Relationship Type="http://schemas.openxmlformats.org/officeDocument/2006/relationships/notesMaster" Target="/ppt/notesMasters/notesMaster1.xml" Id="R716ed36f8fa445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4781fb4a3f4bd7" /><Relationship Type="http://schemas.openxmlformats.org/officeDocument/2006/relationships/notesMaster" Target="/ppt/notesMasters/notesMaster1.xml" Id="Rb1a1c602dff841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35b464ecc4f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aa3f1d27154473" /><Relationship Type="http://schemas.openxmlformats.org/officeDocument/2006/relationships/slideLayout" Target="/ppt/slideLayouts/slideLayout1.xml" Id="Ra23e1cbc277a4a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3e1cbc277a4a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ee04af61d4a60" /><Relationship Type="http://schemas.openxmlformats.org/officeDocument/2006/relationships/image" Target="/ppt/media/image.png" Id="R53a817fddf414102" /><Relationship Type="http://schemas.openxmlformats.org/officeDocument/2006/relationships/image" Target="/ppt/media/image2.png" Id="R8a3bdd7d97d94a27" /><Relationship Type="http://schemas.openxmlformats.org/officeDocument/2006/relationships/notesSlide" Target="/ppt/notesSlides/notesSlide1.xml" Id="R085e50c5481c4d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1501da9c64c40" /><Relationship Type="http://schemas.openxmlformats.org/officeDocument/2006/relationships/notesSlide" Target="/ppt/notesSlides/notesSlide2.xml" Id="R9fa4bc89cb0946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2435d22a24b07" /><Relationship Type="http://schemas.openxmlformats.org/officeDocument/2006/relationships/notesSlide" Target="/ppt/notesSlides/notesSlide3.xml" Id="R1fdeac31c5ab4b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ca5d3ddf543b8" /><Relationship Type="http://schemas.openxmlformats.org/officeDocument/2006/relationships/notesSlide" Target="/ppt/notesSlides/notesSlide4.xml" Id="Rd561034a299e41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4efa9cdcc4e42" /><Relationship Type="http://schemas.openxmlformats.org/officeDocument/2006/relationships/notesSlide" Target="/ppt/notesSlides/notesSlide5.xml" Id="R8fccb220363b4b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e9e571866443e" /><Relationship Type="http://schemas.openxmlformats.org/officeDocument/2006/relationships/notesSlide" Target="/ppt/notesSlides/notesSlide6.xml" Id="R044462a169a048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f70d826774994" /><Relationship Type="http://schemas.openxmlformats.org/officeDocument/2006/relationships/notesSlide" Target="/ppt/notesSlides/notesSlide7.xml" Id="Rb640c6c5b1ca4e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b01d551ce41c5" /><Relationship Type="http://schemas.openxmlformats.org/officeDocument/2006/relationships/image" Target="/ppt/media/image3.png" Id="Rd959b29b6736404f" /><Relationship Type="http://schemas.openxmlformats.org/officeDocument/2006/relationships/notesSlide" Target="/ppt/notesSlides/notesSlide8.xml" Id="Rf171c02329284f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3126ac49847b5" /><Relationship Type="http://schemas.openxmlformats.org/officeDocument/2006/relationships/image" Target="/ppt/media/image4.png" Id="Rc3acfca98aef4f22" /><Relationship Type="http://schemas.openxmlformats.org/officeDocument/2006/relationships/notesSlide" Target="/ppt/notesSlides/notesSlide9.xml" Id="R9729126217a543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8c5b55df54dbd" /><Relationship Type="http://schemas.openxmlformats.org/officeDocument/2006/relationships/image" Target="/ppt/media/image5.png" Id="Rb3f36559ae6e49bf" /><Relationship Type="http://schemas.openxmlformats.org/officeDocument/2006/relationships/image" Target="/ppt/media/image6.png" Id="R912a282003c0423e" /><Relationship Type="http://schemas.openxmlformats.org/officeDocument/2006/relationships/notesSlide" Target="/ppt/notesSlides/notesSlide10.xml" Id="Ree4a26fb286542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401d018324495" /><Relationship Type="http://schemas.openxmlformats.org/officeDocument/2006/relationships/notesSlide" Target="/ppt/notesSlides/notesSlide11.xml" Id="Rd3178b7fb2214b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ed21f4fef410b" /><Relationship Type="http://schemas.openxmlformats.org/officeDocument/2006/relationships/notesSlide" Target="/ppt/notesSlides/notesSlide12.xml" Id="R144cbb11314b4f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CFF3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3F6C21-1F66-434F-AFFB-E8E2F935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CF9A6-9C7A-4937-8D76-4BAB1CC4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81375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E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7CADDC-7339-4BB2-848C-E51A9E12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11049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817fddf414102"/>
          <a:stretch xmlns:a="http://schemas.openxmlformats.org/drawingml/2006/main"/>
        </p:blipFill>
        <p:spPr>
          <a:xfrm xmlns:a="http://schemas.openxmlformats.org/drawingml/2006/main">
            <a:off x="857250" y="815686"/>
            <a:ext cx="1143000" cy="1073727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bdd7d97d94a27"/>
          <a:stretch xmlns:a="http://schemas.openxmlformats.org/drawingml/2006/main"/>
        </p:blipFill>
        <p:spPr>
          <a:xfrm xmlns:a="http://schemas.openxmlformats.org/drawingml/2006/main">
            <a:off x="9601200" y="683571"/>
            <a:ext cx="1333500" cy="97600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BA587-2F75-499F-B65E-B708912D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295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3FBD7-5241-48D8-85C4-A972DBCF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620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AHMADU BELLO UNIVERSITY, ZARIA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368A7-4263-4A0F-AD7A-49EE74D3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952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COEN 807 - MACHINE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1F9D6-6D10-4C4C-A69D-48FAAB6B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955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PREDICTING AT-RISK STUDENT ACADEMIC PERFORMANCE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37894-CBFF-4F4A-8D62-EEF6FC68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952750"/>
            <a:ext cx="714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2025/2026 FIRST SEMESTER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0C2A7-4067-4AA4-8510-A2949186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PROJECT-BASED EXAMINATION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200AB-76A7-428D-AEB8-FA5E78B6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910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3193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31937"/>
                </a:solidFill>
                <a:latin typeface="Aptos"/>
                <a:ea typeface="Aptos"/>
                <a:cs typeface="Aptos"/>
              </a:rPr>
              <a:t>BY: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348AB-2550-41FB-9DCC-D648F1FE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9585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MUSBAHU TIJJANI</a:t>
            </a:r>
          </a:p>
          <a:p xmlns:a="http://schemas.openxmlformats.org/drawingml/2006/main">
            <a:pPr algn="ctr">
              <a:defRPr sz="20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P25EGCP8009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CC22E8-9A97-4C20-87CA-AC74FDF7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191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JUNE,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98FF34-49D2-4561-A788-A0C47B87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115050"/>
            <a:ext cx="2571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  <a:ln xmlns:a="http://schemas.openxmlformats.org/drawingml/2006/main" w="9525">
            <a:solidFill>
              <a:srgbClr val="00206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3D4B81-CC7C-4A70-AD53-16501555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191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JUNE,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B7587-70CB-4AFC-B7DD-DEA03088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3531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D7D287-ED69-4252-8D2D-5CDC70C0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138858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662804-8BE4-4638-94D3-19D741DB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92DB7-85EF-4164-A59E-1807B79D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74EA0C-46AA-49EC-BBBD-35FA538F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44210-8A7A-4CCB-8BC1-D1598713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A2113-61D5-4332-9C94-903D1B42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3B93A-6F18-4941-B3D0-3BDAEB76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project directly answers the lecturer's supervised learning requirements.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AA5DF-4CD8-4E9F-A68F-9D804129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BB6A0-BABA-477C-AF05-8D3FEB4F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80037-3646-49E0-BBBC-AE17AEF3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C99D3-A23D-45E7-B691-78764570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473F7-3A34-40DB-8543-99AC94C4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76475"/>
            <a:ext cx="2571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Predict students who may be at risk of failing so academic support can begin before final outcomes.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18785-C386-4854-B2EF-1AEFE43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621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35854-12B3-481A-9A5D-B871E9CB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62125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DF04E-8925-44E0-8A7B-33987559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C4822-9F50-4D20-BF2C-1224A2B3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276475"/>
            <a:ext cx="2571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Build and compare supervised ML models using student, school, family, and behavioural data.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CC0195-92C5-417A-9B19-C3E69353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621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89693-E5EF-4FF6-B200-6638AED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62125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  <a:ln xmlns:a="http://schemas.openxmlformats.org/drawingml/2006/main" w="9525">
            <a:solidFill>
              <a:srgbClr val="00206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7423DD-548C-479C-8F4D-109EF7CF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Decision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CB4904-B098-46CB-A0DF-CB561467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76475"/>
            <a:ext cx="2571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Use predictions for tutoring, advising, and support rather than punishment or exclusion.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90AB7-FEF0-404F-B221-32EEE33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Submission evidence: report, PowerPoint, GitHub source code, dataset/access files, generated results, trained models, and figures.</a:t>
            </a:r>
          </a:p>
        </p:txBody>
      </p:sp>
    </p:spTree>
    <p:extLst>
      <p:ext uri="{BB962C8B-B14F-4D97-AF65-F5344CB8AC3E}">
        <p14:creationId xmlns:p14="http://schemas.microsoft.com/office/powerpoint/2010/main" val="14181263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322A13-4B10-41D3-B7F9-EEA18EF9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2A7C6-6A8C-4F2A-B015-BCB922A4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3ED25-221F-4A50-BEA6-6BF1B5EC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AAC2D-55FF-40FA-81E1-D41A2B78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5E04F-3876-4E81-80E9-4BCCC89B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DATASET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C8126-E8B1-49B1-BF74-71760491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dataset is public, relevant, and suitable for binary classification.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50EC3-E52C-43A6-B5B7-942E67E0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67332-3654-432E-BC8C-3537ECCB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D5CE9-1C38-4EFE-928E-45866B34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F7434-B62B-4A41-A883-5679B03E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0383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UCI Machine Learning Repository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Student Performance 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7B5CF-061B-41BF-A765-12ABD4A3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C05B2-D4FD-4A05-846B-F6519F4C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8859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99A1B4-E13A-4FD4-817C-1C791D6E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86000"/>
            <a:ext cx="20383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At_Risk = 1 if G3 &lt; 10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otherwise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7CC2B-F1D2-4117-AE23-FF20CD36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2A3204-7E94-437C-BDFF-775FADFE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859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7D207-916D-4DF8-A3BE-97D8360D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20383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649 records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33 original variables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0 missing values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743D5-4E9E-483B-9B59-EB574486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B8D3FF-F2F2-44FB-9BCE-63BF71E4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859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Class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57B4F-9F88-474F-8DD7-321CC291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86000"/>
            <a:ext cx="20383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100 at-risk students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549 not-at-risk students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Accuracy alone is misleading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E43C6-9178-4D57-9CD0-11B73EE6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530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Selected file: data/raw/student/student-por.csv</a:t>
            </a:r>
          </a:p>
        </p:txBody>
      </p:sp>
    </p:spTree>
    <p:extLst>
      <p:ext uri="{BB962C8B-B14F-4D97-AF65-F5344CB8AC3E}">
        <p14:creationId xmlns:p14="http://schemas.microsoft.com/office/powerpoint/2010/main" val="17062566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0D5BFD-7E80-4235-91C9-E11BB71F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67BE87-5182-4BC5-98AC-613D48F3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C52D7-6A4D-48B3-9940-5CCCD711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86642-244D-4FB6-B937-3BB48A78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21A79-94D3-49A3-A589-9DEBA139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B540E-DAE7-45E3-8D15-334BCD25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project follows a reproducible end-to-end machine learning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ED8B4-693E-429A-948D-EEC9F97A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9F427-0465-4469-A904-F326915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F8819-F1A0-4F9C-86D5-D18C3CD7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76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FDFCB6-CF96-41FC-93E6-B0CD4BBA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050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Acquire public 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D630B-BDFD-4946-BC66-82DFFDD1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62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A3945-36AC-40B3-AA07-A69F4A16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3362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4D175-9D67-4BAB-8315-470B10B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76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7F2C2-B7D7-4142-AC95-A21C8E92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050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Engineer At_Risk target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80F31A-0FB4-470C-BF27-3FA0E37F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7D9A7-3071-4AB8-ACD3-642110EC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3362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6CB4D-7C44-46CB-B5EE-1AF2880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76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C786F-9743-4E8B-B855-B39D247A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050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Preprocess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3BD7E9-7BFC-4669-8EE1-E8BC9607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62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9F37C1-FAE3-4195-A7F7-E8DCE1B2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3362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84631-C49F-47A3-97D8-32D8D5CB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76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FA2C4-8AD6-4F3C-953E-51285A65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050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Train and tune models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1CCAAF-D210-4988-9F3E-02960834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62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C45E6-618C-4315-AAFF-75777526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703805-20D1-4E11-B451-959D4FD9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76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EAB6ED-DA50-47A0-AF3F-8696D2A6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050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Evaluate and interpret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59F361-AE51-4AEB-AC16-46E330B8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957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Implementation uses scikit-learn pipelines so preprocessing and model fitting remain reproducible.</a:t>
            </a:r>
          </a:p>
        </p:txBody>
      </p:sp>
    </p:spTree>
    <p:extLst>
      <p:ext uri="{BB962C8B-B14F-4D97-AF65-F5344CB8AC3E}">
        <p14:creationId xmlns:p14="http://schemas.microsoft.com/office/powerpoint/2010/main" val="7154235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892EEC-20F4-491D-AF17-2830FE4A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189FF-D262-40D1-93EE-4573928A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5724E-7093-4E22-87E0-56E7D302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BBDF3-47DC-4941-B089-2DA6A9B1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7B96D-219D-4FBC-8F6C-8B79E513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PREPROCESSING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CA3C8-DE80-4BCE-A405-AB61FAEA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Feature engineering prepares the student data for fair model comparison.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F7CE87-4A05-4A47-88AE-68A4FA59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D3285-75DA-469B-9E0B-1D3E6A91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30003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74979-2212-4346-95B8-8EDAAE7D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20CCD6-82E4-4977-89AD-1FC0C65E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838325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Target Engineering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58EDA-1C1A-4C43-A062-F86CA963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181225"/>
            <a:ext cx="2619375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At_Risk = 1 if final grade G3 is below 10.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This turns final performance into a support-focused classification task.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37946-ACB7-497B-910F-536B275D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66875"/>
            <a:ext cx="30003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001BA-1F51-4660-BC0D-CE0EF635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1D276-73B7-461A-A42F-C4321611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38325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Feature Processing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99121-2929-4F79-8D39-FCD1554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81225"/>
            <a:ext cx="2619375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Categorical variables use one-hot encoding.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Numerical variables use median imputation and standardisation.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A8709-AF9D-4411-919B-936434F8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666875"/>
            <a:ext cx="30003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EEC42-A048-4630-B7CD-84DC01B4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  <a:ln xmlns:a="http://schemas.openxmlformats.org/drawingml/2006/main" w="9525">
            <a:solidFill>
              <a:srgbClr val="00206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0D6F0-7D76-4D75-8C88-0304A3C9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838325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Two Experiments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CE33D3-6FF6-4D5C-9AB3-5CBDA9C1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81225"/>
            <a:ext cx="2619375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Early-warning excludes G1 and G2.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Performance-aware includes G1 and G2 to examine grade-history impact.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2BB58-2874-478C-BE59-DAC7BA6E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10125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Train-test split: stratified 80/20 with fixed random seed.</a:t>
            </a:r>
          </a:p>
        </p:txBody>
      </p:sp>
    </p:spTree>
    <p:extLst>
      <p:ext uri="{BB962C8B-B14F-4D97-AF65-F5344CB8AC3E}">
        <p14:creationId xmlns:p14="http://schemas.microsoft.com/office/powerpoint/2010/main" val="19600459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FB3C2C-F50D-4F75-94C6-EFD23559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8934B-C08A-4331-8371-86EDD434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B612D-8D60-4A5C-A7BB-E38105AC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B2E35-AE66-4ED8-BA11-5C1FB924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CF37D-9CE3-426A-B09F-7B177816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MODEL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DFD1E-F21E-47E6-8C3F-9551919C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Several classifiers are compared under the same tuning protocol.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E65AB-E180-489F-AB85-3884F996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D4F97-100A-4FE1-B1C8-9A2DD43E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35E70-9802-4796-B84B-3ED4F174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6D8D5-695E-4209-9EB4-9B1E10C4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8383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Models Compared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3876F-6B2A-4CA1-B905-D2C3D404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181225"/>
            <a:ext cx="29527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Dummy Majority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Logistic Regression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Tree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Random Forest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Gradient Boosting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Support Vector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869AB-93C7-4B80-AF85-67A7FADF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66875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C27ED-DC64-4D34-B0A4-ACD503C3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6324D-5F87-4F41-8962-EC4C3134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8383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Tuning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8BA5B0-6B57-4A9D-826E-5405CE66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81225"/>
            <a:ext cx="29527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Five-fold stratified cross-validation.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Grid search over model hyperparameters.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Primary tuning score: At_Risk F1.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D70704-E9B6-4F55-96F6-CF0A10DA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66875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B7361-886B-490F-922A-68FD7207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12E"/>
          </a:solidFill>
          <a:ln xmlns:a="http://schemas.openxmlformats.org/drawingml/2006/main" w="9525">
            <a:solidFill>
              <a:srgbClr val="C9912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E608B6-6B87-483E-9672-CD9AEF09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8383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B8EEDE-C56C-4648-BAF2-E8113B1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9527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The baseline checks imbalance.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Linear, tree, ensemble, and margin-based models give a fair comparison.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FFDA6-5DF2-4E87-8B40-D1B26EA7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762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802199-E301-4351-95E5-75396C6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33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3022B-69F6-4EF6-BAE7-0FD1EBCE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2673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CV folds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09C9C-CA01-415A-A601-F74735B2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62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1B3834-559D-4498-8BB3-E63146BF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933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510E83-9EF6-423D-B2A4-EA4994AE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52673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Test split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A2A258-1DEC-4CBA-BB40-9D9EC0C6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62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82B28E-FBA0-4F20-B620-D68B1D37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33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009830-9CA5-49C6-9A76-2E0BECE0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673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Primary metric</a:t>
            </a:r>
          </a:p>
        </p:txBody>
      </p:sp>
    </p:spTree>
    <p:extLst>
      <p:ext uri="{BB962C8B-B14F-4D97-AF65-F5344CB8AC3E}">
        <p14:creationId xmlns:p14="http://schemas.microsoft.com/office/powerpoint/2010/main" val="642681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436BCE-8274-4840-A91F-3F3BAC80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97A29-AD0B-416C-AE72-9C3F8F88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49B80-0F7D-4ED8-AC30-D95C9740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3F3D03-AB92-4BEA-A53E-66EA711B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03724-F94B-4329-A2A3-DD2E7BED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EVALUATION METRICS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B606C-5E8D-4B5E-8406-7AD2AEDE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report avoids accuracy-only conclusions on imbalanced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4B2B33-6C84-4F4D-920C-2F6265AF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19D68-AA94-4C0C-9E77-C51C4EAD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62125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DC415-88ED-4D44-A31C-74509359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62125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F7217-1222-429E-A414-BBED9A40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Why Not Accuracy Alone?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2E0AB-A896-49FD-A183-0DF04E0E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276475"/>
            <a:ext cx="2571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The majority class is much larger. A model can look accurate while detecting no at-risk students.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262495-B7C9-45F2-8E83-A75523BA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62125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56BAF-1269-4F8E-AF98-574AD88F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62125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03AB89-409A-49CD-AAA9-0569046C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Primary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EFD6C-22B3-44A4-BEDA-814C9B9C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276475"/>
            <a:ext cx="2571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At-risk recall identifies students needing support.</a:t>
            </a:r>
          </a:p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At-risk F1 balances recall and precision.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14B92-DAF5-4BD3-9345-47AED73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62125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E7183C-7534-43DA-B21E-83F155D7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62125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  <a:ln xmlns:a="http://schemas.openxmlformats.org/drawingml/2006/main" w="9525">
            <a:solidFill>
              <a:srgbClr val="00206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42061-F9EE-4AD1-9DCC-7FCF9D56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9335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Operational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B711F-E998-46A7-B5CD-8E90F671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276475"/>
            <a:ext cx="2571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Confusion matrices show false negatives and false positives clearly for support planning.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37315C-BD91-4908-AF68-8C1B694B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09587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Other reported metrics: balanced accuracy, precision, ROC-AUC, and confusion matrix counts.</a:t>
            </a:r>
          </a:p>
        </p:txBody>
      </p:sp>
    </p:spTree>
    <p:extLst>
      <p:ext uri="{BB962C8B-B14F-4D97-AF65-F5344CB8AC3E}">
        <p14:creationId xmlns:p14="http://schemas.microsoft.com/office/powerpoint/2010/main" val="451227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B59D87-4E04-4E92-BB6D-40CE0FF8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BC98E-11FF-47EE-B6D5-65BE615F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DB710-DD6F-4BDC-9E4F-4CB7856E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9BF59-84AE-4CC0-80EE-9B96603B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2370B-D762-438F-9B6D-F7FB2C49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EARLY-WARNING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85BA7-6CEA-4A28-8B7E-D83F2305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Without G1 and G2, Random Forest provides the strongest at-risk detection.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5FD23E-4A51-4887-8E5F-A2896421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01A92-2919-4530-B188-74EE75D8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71625"/>
            <a:ext cx="55245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9b29b6736404f"/>
          <a:stretch xmlns:a="http://schemas.openxmlformats.org/drawingml/2006/main"/>
        </p:blipFill>
        <p:spPr>
          <a:xfrm xmlns:a="http://schemas.openxmlformats.org/drawingml/2006/main">
            <a:off x="971550" y="1764771"/>
            <a:ext cx="5219700" cy="289983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F283C-E92F-4EA2-9E1A-72008904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66875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DD299-4E4F-466B-A2EB-EAFF8F70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8383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RF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049E9-7E6F-43A2-A859-113E4D7C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1717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946E5-5DB1-4723-B126-64FCCA18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66875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D53A9-4718-4CC4-9858-B421246F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8383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0.800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4B849-A5DC-4A66-A3F3-8D7733AF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717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989367-23A7-4BCC-A0FA-A400BD6D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5275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7EA453-CF33-462F-AF1D-B91D1F29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242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0.582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670A93-1D20-4AF3-BB3E-B57BE836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91991B-A476-49B5-AEDA-C434743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95275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20185-70E3-4134-8197-706FB5A3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242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0.822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F2078-9189-4F68-8BE7-9EA39055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EBDFBE-53E0-4267-BE15-3E76F35E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333875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E955F-40F7-434C-A71A-1DF7AAD1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333875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12E"/>
          </a:solidFill>
          <a:ln xmlns:a="http://schemas.openxmlformats.org/drawingml/2006/main" w="9525">
            <a:solidFill>
              <a:srgbClr val="C991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4E1404-9D5D-479E-ADB9-E2877A69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5053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0CF70E-7E3E-428B-BDFF-CD5FC65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84822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The model detected 16 of 20 at-risk students, but also produced 19 false positives.</a:t>
            </a:r>
          </a:p>
        </p:txBody>
      </p:sp>
    </p:spTree>
    <p:extLst>
      <p:ext uri="{BB962C8B-B14F-4D97-AF65-F5344CB8AC3E}">
        <p14:creationId xmlns:p14="http://schemas.microsoft.com/office/powerpoint/2010/main" val="19328267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A84630-153F-4D1D-9CB5-88881E7F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6C7AA-9168-4568-BD85-B24F0027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13062-8707-4DD8-80EE-78A40A4C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5DF8B-8D0A-43F5-8E0E-1DA420EB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BE42A-6AE8-401E-B2F1-5DF227EA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PERFORMANCE-AWARE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C9EC3-6D39-4472-959D-E521483F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Including G1 and G2 improves predictive performance.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2B47F-8B2B-4CC2-B705-C6B95B19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0CB9D-65FF-4B70-8116-15578258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71625"/>
            <a:ext cx="55245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acfca98aef4f22"/>
          <a:stretch xmlns:a="http://schemas.openxmlformats.org/drawingml/2006/main"/>
        </p:blipFill>
        <p:spPr>
          <a:xfrm xmlns:a="http://schemas.openxmlformats.org/drawingml/2006/main">
            <a:off x="971550" y="1764771"/>
            <a:ext cx="5219700" cy="289983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652D6-87DC-4116-A286-B321AE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66875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F1312-F3BE-4EC4-BFD0-F4639D4A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8383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SVM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0C1A4-4C07-4534-A5CB-3BF5CD8A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1717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BEED0-413D-4F0E-AC8C-B2C023C0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66875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C475B-9494-4886-A576-01F6921E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8383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0.908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802E88-E94D-40EC-80EF-59EE275F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717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D91B3-220B-45D0-8DDA-F33C6EC5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5275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A6D234-3E53-4AB1-BB79-7A020B5A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242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0.850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797B6-B32C-44B0-88AC-7A68AA0B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6E464-1DC6-46D5-84C4-56A4084F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95275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BDBCA-7BCE-483A-8562-39F7073D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242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0.739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58F0FD-2310-4964-B979-69552B65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949CD-5218-458E-934A-C2A86CDF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333875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E6089-11AB-4D7A-A9E7-FF423E45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333875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12E"/>
          </a:solidFill>
          <a:ln xmlns:a="http://schemas.openxmlformats.org/drawingml/2006/main" w="9525">
            <a:solidFill>
              <a:srgbClr val="C991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BAFA7D-DC97-46D3-9A7D-555AC11B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5053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F8F0D0-B730-457C-87B6-22D36957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84822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The SVM detected 17 of 20 at-risk students and reduced false positives to 9.</a:t>
            </a:r>
          </a:p>
        </p:txBody>
      </p:sp>
    </p:spTree>
    <p:extLst>
      <p:ext uri="{BB962C8B-B14F-4D97-AF65-F5344CB8AC3E}">
        <p14:creationId xmlns:p14="http://schemas.microsoft.com/office/powerpoint/2010/main" val="10996155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F0ECB-D8FF-432D-AC6D-E03F9D1B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3D097D-13D4-4F30-AD48-E3A3088F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2DF66-6BFC-4F02-8485-B4AAE189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F474D-D885-4E34-AFE0-6B46DE58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029EB-5D52-42EC-973C-79254170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COMPARATIVE 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EFB2C-29A8-4A07-8D8A-A0F9DA8E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strongest model depends on when intervention must happen.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93753-E843-4AA8-8B26-B0DF2E4D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4BA20-E174-49FB-A570-F9066286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2952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f36559ae6e49bf"/>
          <a:stretch xmlns:a="http://schemas.openxmlformats.org/drawingml/2006/main"/>
        </p:blipFill>
        <p:spPr>
          <a:xfrm xmlns:a="http://schemas.openxmlformats.org/drawingml/2006/main">
            <a:off x="914400" y="1845945"/>
            <a:ext cx="2647950" cy="211836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EDEC2-1F16-467C-BBCF-8BDD2213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2952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a282003c0423e"/>
          <a:stretch xmlns:a="http://schemas.openxmlformats.org/drawingml/2006/main"/>
        </p:blipFill>
        <p:spPr>
          <a:xfrm xmlns:a="http://schemas.openxmlformats.org/drawingml/2006/main">
            <a:off x="4486275" y="1845945"/>
            <a:ext cx="2647950" cy="211836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A8142B-11F2-4E50-81CF-40768A2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66875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FC490-C801-4EB3-B3B9-7298A121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66875"/>
            <a:ext cx="571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A207F4-7268-400A-9743-48965866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8383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Main Finding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490B7-753F-4B45-9375-D249D73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81225"/>
            <a:ext cx="2762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G1 and G2 strongly improve performance, but the early-warning model is more useful before later grades are available.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0A6D23-1119-4CF5-9E54-2F00B467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Accuracy warning: Dummy Majority scored 0.846 accuracy but detected 0 at-risk students.</a:t>
            </a:r>
          </a:p>
        </p:txBody>
      </p:sp>
    </p:spTree>
    <p:extLst>
      <p:ext uri="{BB962C8B-B14F-4D97-AF65-F5344CB8AC3E}">
        <p14:creationId xmlns:p14="http://schemas.microsoft.com/office/powerpoint/2010/main" val="6347720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B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866D01-F3F6-422F-BD65-A3DEC261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 w="9525">
            <a:solidFill>
              <a:srgbClr val="00A6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88DC1C-6900-4E66-A997-DF0A982B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75C"/>
          </a:solidFill>
          <a:ln xmlns:a="http://schemas.openxmlformats.org/drawingml/2006/main" w="9525">
            <a:solidFill>
              <a:srgbClr val="06275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C349D-43A5-4D1A-A4AE-19A4F5D0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58FEE-8CA9-4D2D-9B10-78AFCE59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2937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3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36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64089-5FD3-477B-825F-23FB8E38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SUBMISSION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1B494-082C-4B40-8200-20E3DC5B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34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The package contains the materials needed to verify the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0BAFB-869A-49EB-9C3F-58DA1F4C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0287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7D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58296B-467D-4605-B834-E3B5127B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4BD5D-7DD5-4FDB-B55D-4D9727F5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3357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7523B-6BA5-488E-BE91-7781D3DE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33625"/>
            <a:ext cx="2705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COEN807_Technical_Report.pdf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Chapter One to Chapter Five format with results and discussion.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E1D54B-4382-477D-989E-903FD4A3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62125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FD798-47F4-4967-8250-972D1F89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3357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Source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46DD8-5A2E-47E9-A464-BB649256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33625"/>
            <a:ext cx="2705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src/train_models.py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src/build_report.py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requirements.txt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run_project.bat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CF0CCF-60D8-4903-99E8-EB735C8D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62125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9525">
            <a:solidFill>
              <a:srgbClr val="D8E7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ED850A-61A7-4277-962F-2A74E2A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3357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20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2060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5FB11-02A9-4B93-894E-891765D7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33625"/>
            <a:ext cx="2705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Dataset/access files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Generated result CSV/JSON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Figures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Trained models</a:t>
            </a:r>
          </a:p>
          <a:p xmlns:a="http://schemas.openxmlformats.org/drawingml/2006/main">
            <a:pPr algn="ctr">
              <a:defRPr sz="975" b="0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3A"/>
                </a:solidFill>
                <a:latin typeface="Aptos"/>
                <a:ea typeface="Aptos"/>
                <a:cs typeface="Aptos"/>
              </a:rPr>
              <a:t>PowerPoint deck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079F8-35A5-4F30-862C-6F3BE959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A65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A651"/>
                </a:solidFill>
                <a:latin typeface="Aptos"/>
                <a:ea typeface="Aptos"/>
                <a:cs typeface="Aptos"/>
              </a:rPr>
              <a:t>GitHub repository: https://github.com/MusbahuTijjani/COEN807_Student_Performance_ML</a:t>
            </a:r>
          </a:p>
        </p:txBody>
      </p:sp>
    </p:spTree>
    <p:extLst>
      <p:ext uri="{BB962C8B-B14F-4D97-AF65-F5344CB8AC3E}">
        <p14:creationId xmlns:p14="http://schemas.microsoft.com/office/powerpoint/2010/main" val="20222349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206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0C43CB-C73B-49A2-979E-D92F97EB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E3B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BE3B6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9B633-5B22-4E9F-AED5-637832D5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Machine learning can support early academic intervention when results are evaluated responsibly.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F25BC-8457-468C-A11C-FB9E9554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14625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D77"/>
          </a:solidFill>
          <a:ln xmlns:a="http://schemas.openxmlformats.org/drawingml/2006/main" w="9525">
            <a:solidFill>
              <a:srgbClr val="7DA8C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62C8-14C9-45F4-84A8-F3713A19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962275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Early Warning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F8502D-E0D6-4A2B-AFEE-085374B9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400425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Random Forest detected 80% of at-risk students without G1 and G2.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BBA75-AB04-4151-B9BF-FF089FC6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14625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4D"/>
          </a:solidFill>
          <a:ln xmlns:a="http://schemas.openxmlformats.org/drawingml/2006/main" w="9525">
            <a:solidFill>
              <a:srgbClr val="7DA8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93B67-17CE-4897-A2A1-1C205CC5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962275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Performance Aware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74B90-E7AE-44DD-8CB4-595B1548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400425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SVM achieved stronger performance when G1 and G2 were included.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57302-B592-4895-9A0A-2C5F1EB3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14625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718"/>
          </a:solidFill>
          <a:ln xmlns:a="http://schemas.openxmlformats.org/drawingml/2006/main" w="9525">
            <a:solidFill>
              <a:srgbClr val="7DA8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46415-CF8A-48C7-B5A9-0FB52650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962275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Submission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E6BA0-82FC-421C-B090-2DF6FE99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400425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Report, PowerPoint, source code, dataset, outputs, and GitHub link included.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482E4F-D18C-4EC4-A2E2-06A91C6B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9BE3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BE3B6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7BCF7-2BB3-4AAD-9F49-AF5B0516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293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Department of Computer Engineering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3F5D2-641C-4447-B7AD-4A2EA57C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29375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947847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2026-06-15T18:34:20.4370000Z</dcterms:created>
  <dcterms:modified xsi:type="dcterms:W3CDTF">2026-06-15T18:34:20.4370000Z</dcterms:modified>
</coreProperties>
</file>